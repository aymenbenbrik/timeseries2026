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A438B7-D97E-4770-A539-A1B6910BB87B}" type="datetimeFigureOut">
              <a:rPr lang="fr-FR" smtClean="0"/>
              <a:t>14/03/2019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6E77CA1-D37D-4424-91DA-23C8B0CE670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794578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AC846B-06C4-4BAA-A7C7-C9A47ED99046}" type="datetime1">
              <a:rPr lang="en-US" smtClean="0"/>
              <a:t>3/14/2019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r>
              <a:rPr lang="en-US"/>
              <a:t>Aymen Ben Brik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>
            <a:lvl1pPr>
              <a:buClr>
                <a:schemeClr val="accent1">
                  <a:lumMod val="75000"/>
                </a:schemeClr>
              </a:buClr>
              <a:defRPr/>
            </a:lvl1pPr>
            <a:lvl2pPr>
              <a:buClr>
                <a:schemeClr val="accent1">
                  <a:lumMod val="75000"/>
                </a:schemeClr>
              </a:buClr>
              <a:defRPr/>
            </a:lvl2pPr>
            <a:lvl3pPr>
              <a:buClr>
                <a:schemeClr val="accent1">
                  <a:lumMod val="75000"/>
                </a:schemeClr>
              </a:buClr>
              <a:defRPr/>
            </a:lvl3pPr>
            <a:lvl4pPr>
              <a:buClr>
                <a:schemeClr val="accent1">
                  <a:lumMod val="75000"/>
                </a:schemeClr>
              </a:buClr>
              <a:defRPr/>
            </a:lvl4pPr>
            <a:lvl5pPr>
              <a:buClr>
                <a:schemeClr val="accent1">
                  <a:lumMod val="75000"/>
                </a:schemeClr>
              </a:buClr>
              <a:defRPr/>
            </a:lvl5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0DE557-400C-47E2-98B7-3C5367CF81D7}" type="datetime1">
              <a:rPr lang="en-US" smtClean="0"/>
              <a:t>3/14/2019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Aymen Ben Brik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0859D1-2EB7-4747-BBEE-0E040517376D}" type="datetime1">
              <a:rPr lang="en-US" smtClean="0"/>
              <a:t>3/14/2019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Aymen Ben Brik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buClr>
                <a:schemeClr val="accent1">
                  <a:lumMod val="75000"/>
                </a:schemeClr>
              </a:buClr>
              <a:defRPr sz="1800"/>
            </a:lvl1pPr>
            <a:lvl2pPr>
              <a:buClr>
                <a:schemeClr val="accent1">
                  <a:lumMod val="75000"/>
                </a:schemeClr>
              </a:buClr>
              <a:defRPr sz="1600"/>
            </a:lvl2pPr>
            <a:lvl3pPr>
              <a:buClr>
                <a:schemeClr val="accent1">
                  <a:lumMod val="75000"/>
                </a:schemeClr>
              </a:buClr>
              <a:defRPr sz="1400"/>
            </a:lvl3pPr>
            <a:lvl4pPr>
              <a:buClr>
                <a:schemeClr val="accent1">
                  <a:lumMod val="75000"/>
                </a:schemeClr>
              </a:buClr>
              <a:defRPr sz="1200"/>
            </a:lvl4pPr>
            <a:lvl5pPr>
              <a:buClr>
                <a:schemeClr val="accent1">
                  <a:lumMod val="75000"/>
                </a:schemeClr>
              </a:buCl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buClr>
                <a:schemeClr val="accent1">
                  <a:lumMod val="75000"/>
                </a:schemeClr>
              </a:buClr>
              <a:defRPr sz="1800"/>
            </a:lvl1pPr>
            <a:lvl2pPr>
              <a:buClr>
                <a:schemeClr val="accent1">
                  <a:lumMod val="75000"/>
                </a:schemeClr>
              </a:buClr>
              <a:defRPr sz="1600"/>
            </a:lvl2pPr>
            <a:lvl3pPr>
              <a:buClr>
                <a:schemeClr val="accent1">
                  <a:lumMod val="75000"/>
                </a:schemeClr>
              </a:buClr>
              <a:defRPr sz="1400"/>
            </a:lvl3pPr>
            <a:lvl4pPr>
              <a:buClr>
                <a:schemeClr val="accent1">
                  <a:lumMod val="75000"/>
                </a:schemeClr>
              </a:buClr>
              <a:defRPr sz="1200"/>
            </a:lvl4pPr>
            <a:lvl5pPr>
              <a:buClr>
                <a:schemeClr val="accent1">
                  <a:lumMod val="75000"/>
                </a:schemeClr>
              </a:buCl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D2045-BF34-4D28-A784-A54665465EB4}" type="datetime1">
              <a:rPr lang="en-US" smtClean="0"/>
              <a:t>3/14/2019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Aymen Ben Brik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buClr>
                <a:schemeClr val="accent1">
                  <a:lumMod val="75000"/>
                </a:schemeClr>
              </a:buClr>
              <a:defRPr sz="1800"/>
            </a:lvl1pPr>
            <a:lvl2pPr>
              <a:buClr>
                <a:schemeClr val="accent1">
                  <a:lumMod val="75000"/>
                </a:schemeClr>
              </a:buClr>
              <a:defRPr sz="1600"/>
            </a:lvl2pPr>
            <a:lvl3pPr>
              <a:buClr>
                <a:schemeClr val="accent1">
                  <a:lumMod val="75000"/>
                </a:schemeClr>
              </a:buClr>
              <a:defRPr sz="1400"/>
            </a:lvl3pPr>
            <a:lvl4pPr>
              <a:buClr>
                <a:schemeClr val="accent1">
                  <a:lumMod val="75000"/>
                </a:schemeClr>
              </a:buClr>
              <a:defRPr sz="1200"/>
            </a:lvl4pPr>
            <a:lvl5pPr>
              <a:buClr>
                <a:schemeClr val="accent1">
                  <a:lumMod val="75000"/>
                </a:schemeClr>
              </a:buCl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buClr>
                <a:schemeClr val="accent1">
                  <a:lumMod val="75000"/>
                </a:schemeClr>
              </a:buClr>
              <a:defRPr sz="1800"/>
            </a:lvl1pPr>
            <a:lvl2pPr>
              <a:buClr>
                <a:schemeClr val="accent1">
                  <a:lumMod val="75000"/>
                </a:schemeClr>
              </a:buClr>
              <a:defRPr sz="1600"/>
            </a:lvl2pPr>
            <a:lvl3pPr>
              <a:buClr>
                <a:schemeClr val="accent1">
                  <a:lumMod val="75000"/>
                </a:schemeClr>
              </a:buClr>
              <a:defRPr sz="1400"/>
            </a:lvl3pPr>
            <a:lvl4pPr>
              <a:buClr>
                <a:schemeClr val="accent1">
                  <a:lumMod val="75000"/>
                </a:schemeClr>
              </a:buClr>
              <a:defRPr sz="1200"/>
            </a:lvl4pPr>
            <a:lvl5pPr>
              <a:buClr>
                <a:schemeClr val="accent1">
                  <a:lumMod val="75000"/>
                </a:schemeClr>
              </a:buCl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77796-1F4D-4541-8868-D67B6237F899}" type="datetime1">
              <a:rPr lang="en-US" smtClean="0"/>
              <a:t>3/14/2019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Aymen Ben Brik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67D22A-429E-4481-BE7C-7C17CE829BC9}" type="datetime1">
              <a:rPr lang="en-US" smtClean="0"/>
              <a:t>3/14/2019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Aymen Ben Brik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8F3A4-F597-494F-8F9B-1014E0A0E60E}" type="datetime1">
              <a:rPr lang="en-US" smtClean="0"/>
              <a:t>3/14/2019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Aymen Ben Brik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181E41-3B41-45A8-97F1-A67DCA1A3A5A}" type="datetime1">
              <a:rPr lang="en-US" smtClean="0"/>
              <a:t>3/14/2019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Aymen Ben Brik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0D0510-75E0-439D-BAB8-872FD8090895}" type="datetime1">
              <a:rPr lang="en-US" smtClean="0"/>
              <a:t>3/14/2019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Aymen Ben Brik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 panoramiqu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68BF00-282E-4D07-98D0-0B337E09DEBF}" type="datetime1">
              <a:rPr lang="en-US" smtClean="0"/>
              <a:t>3/14/2019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Aymen Ben Brik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980AB0-CDFA-4C33-A8A8-9FDC3789B85B}" type="datetime1">
              <a:rPr lang="en-US" smtClean="0"/>
              <a:t>3/14/2019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Aymen Ben Brik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E7BE73-F64F-4EC9-960B-28DC7E5F1986}" type="datetime1">
              <a:rPr lang="en-US" smtClean="0"/>
              <a:t>3/14/2019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Aymen Ben Brik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93A72E-A189-4CE8-9E3A-4D9FD2A72A38}" type="datetime1">
              <a:rPr lang="en-US" smtClean="0"/>
              <a:t>3/14/2019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Aymen Ben Brik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 cit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fr-FR"/>
              <a:t>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335E36-5D9F-4685-9A97-4BE23F828D0F}" type="datetime1">
              <a:rPr lang="en-US" smtClean="0"/>
              <a:t>3/14/2019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Aymen Ben Brik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rai ou fau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fr-FR"/>
              <a:t>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74BB0E-281D-466F-BD4E-7205763923F4}" type="datetime1">
              <a:rPr lang="en-US" smtClean="0"/>
              <a:t>3/14/2019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Aymen Ben Brik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68FEA2-3CC5-49AB-BFF0-0E6214324B6C}" type="datetime1">
              <a:rPr lang="en-US" smtClean="0"/>
              <a:t>3/14/2019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Aymen Ben Brik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EBA41C-E883-4BCD-9F7A-7838A6E7EAA8}" type="datetime1">
              <a:rPr lang="en-US" smtClean="0"/>
              <a:t>3/14/2019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Aymen Ben Brik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73F280C0-C126-4C5C-9279-7A640C70F5B4}" type="datetime1">
              <a:rPr lang="en-US" smtClean="0"/>
              <a:t>3/14/2019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r>
              <a:rPr lang="en-US"/>
              <a:t>Aymen Ben Brik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7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58" r:id="rId16"/>
    <p:sldLayoutId id="2147483659" r:id="rId17"/>
  </p:sldLayoutIdLst>
  <p:hf hdr="0"/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29F693C-D157-40BC-B623-685B033DEB2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/>
              <a:t>Time </a:t>
            </a:r>
            <a:r>
              <a:rPr lang="fr-FR" dirty="0" err="1"/>
              <a:t>Series</a:t>
            </a:r>
            <a:endParaRPr lang="fr-FR" dirty="0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7B7EDA5A-5055-42B9-986D-439AF9D5EF5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2400" dirty="0"/>
              <a:t>ARMA MODELS : Causal and invertible processes</a:t>
            </a:r>
          </a:p>
          <a:p>
            <a:endParaRPr lang="fr-FR" dirty="0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1F36536-DC6D-42E2-8090-5BA1B9F871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56E747-E93B-457A-B47C-617BEF8FD98A}" type="datetime1">
              <a:rPr lang="en-US" b="1" smtClean="0"/>
              <a:t>3/14/2019</a:t>
            </a:fld>
            <a:endParaRPr lang="en-US" b="1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8CEE56E-B7A3-4253-A4F0-DF0537EFE4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b="1" dirty="0"/>
              <a:t>Aymen Ben Brik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06858CA-A2CD-4A52-9682-3422F6DC56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40924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4B7D9C83-F78D-4446-9BDC-AB7A114763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8F3A4-F597-494F-8F9B-1014E0A0E60E}" type="datetime1">
              <a:rPr lang="en-US" smtClean="0"/>
              <a:t>3/14/2019</a:t>
            </a:fld>
            <a:endParaRPr lang="en-US" dirty="0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539AC641-0DCA-4C85-9AE3-84D1270378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Aymen Ben Brik</a:t>
            </a:r>
            <a:endParaRPr lang="en-US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F107C74-1BE0-4711-85FF-F7C1615CA0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B3E4FB44-E086-4A55-B910-5E41F02F4915}"/>
              </a:ext>
            </a:extLst>
          </p:cNvPr>
          <p:cNvSpPr txBox="1">
            <a:spLocks/>
          </p:cNvSpPr>
          <p:nvPr/>
        </p:nvSpPr>
        <p:spPr>
          <a:xfrm>
            <a:off x="1484801" y="142157"/>
            <a:ext cx="9885564" cy="616276"/>
          </a:xfrm>
          <a:prstGeom prst="rect">
            <a:avLst/>
          </a:prstGeom>
        </p:spPr>
        <p:txBody>
          <a:bodyPr/>
          <a:lstStyle>
            <a:lvl1pPr algn="ctr" defTabSz="457200" rtl="0" eaLnBrk="1" latinLnBrk="0" hangingPunct="1">
              <a:spcBef>
                <a:spcPct val="0"/>
              </a:spcBef>
              <a:buNone/>
              <a:defRPr sz="4000" kern="1200" cap="none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l"/>
            <a:r>
              <a:rPr lang="en-US" sz="3600"/>
              <a:t>ARMA Model: Notation</a:t>
            </a:r>
            <a:endParaRPr lang="en-US" sz="36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8A3C5F59-5E7F-4163-AC32-E785A55F31E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627349" y="1119353"/>
                <a:ext cx="9885564" cy="4592334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 fontScale="92500" lnSpcReduction="10000"/>
              </a:bodyPr>
              <a:lstStyle>
                <a:lvl1pPr marL="285750" indent="-28575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>
                      <a:lumMod val="75000"/>
                    </a:schemeClr>
                  </a:buClr>
                  <a:buSzPct val="145000"/>
                  <a:buFont typeface="Arial"/>
                  <a:buChar char="•"/>
                  <a:defRPr sz="2400" kern="1200" cap="none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742950" indent="-28575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>
                      <a:lumMod val="75000"/>
                    </a:schemeClr>
                  </a:buClr>
                  <a:buSzPct val="145000"/>
                  <a:buFont typeface="Arial"/>
                  <a:buChar char="•"/>
                  <a:defRPr sz="2000" kern="1200" cap="none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2pPr>
                <a:lvl3pPr marL="1200150" indent="-28575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>
                      <a:lumMod val="75000"/>
                    </a:schemeClr>
                  </a:buClr>
                  <a:buSzPct val="145000"/>
                  <a:buFont typeface="Arial"/>
                  <a:buChar char="•"/>
                  <a:defRPr sz="1800" kern="1200" cap="none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3pPr>
                <a:lvl4pPr marL="1543050" indent="-17145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>
                      <a:lumMod val="75000"/>
                    </a:schemeClr>
                  </a:buClr>
                  <a:buSzPct val="145000"/>
                  <a:buFont typeface="Arial"/>
                  <a:buChar char="•"/>
                  <a:defRPr sz="1600" kern="1200" cap="none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4pPr>
                <a:lvl5pPr marL="2000250" indent="-17145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>
                      <a:lumMod val="75000"/>
                    </a:schemeClr>
                  </a:buClr>
                  <a:buSzPct val="145000"/>
                  <a:buFont typeface="Arial"/>
                  <a:buChar char="•"/>
                  <a:defRPr sz="1400" kern="1200" cap="none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>
                      <a:lumMod val="75000"/>
                    </a:schemeClr>
                  </a:buClr>
                  <a:buSzPct val="145000"/>
                  <a:buFont typeface="Arial"/>
                  <a:buChar char="•"/>
                  <a:defRPr sz="1400" kern="1200" cap="none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>
                      <a:lumMod val="75000"/>
                    </a:schemeClr>
                  </a:buClr>
                  <a:buSzPct val="145000"/>
                  <a:buFont typeface="Arial"/>
                  <a:buChar char="•"/>
                  <a:defRPr sz="1400" kern="1200" cap="none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>
                      <a:lumMod val="75000"/>
                    </a:schemeClr>
                  </a:buClr>
                  <a:buSzPct val="145000"/>
                  <a:buFont typeface="Arial"/>
                  <a:buChar char="•"/>
                  <a:defRPr sz="1400" kern="1200" cap="none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>
                      <a:lumMod val="75000"/>
                    </a:schemeClr>
                  </a:buClr>
                  <a:buSzPct val="145000"/>
                  <a:buFont typeface="Arial"/>
                  <a:buChar char="•"/>
                  <a:defRPr sz="1400" kern="1200" cap="none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dirty="0">
                    <a:latin typeface="Helvetica" charset="0"/>
                  </a:rPr>
                  <a:t>We will often write  in the more compact form</a:t>
                </a:r>
              </a:p>
              <a:p>
                <a:endParaRPr lang="en-US" dirty="0">
                  <a:latin typeface="Helvetica" charset="0"/>
                </a:endParaRPr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 charset="0"/>
                        <a:ea typeface="Cambria Math" charset="0"/>
                        <a:cs typeface="Cambria Math" charset="0"/>
                      </a:rPr>
                      <m:t>𝜙</m:t>
                    </m:r>
                    <m:d>
                      <m:dPr>
                        <m:ctrlPr>
                          <a:rPr lang="is-IS" i="1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𝐵</m:t>
                        </m:r>
                      </m:e>
                    </m:d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𝑋</m:t>
                        </m:r>
                      </m:e>
                      <m:sub>
                        <m:r>
                          <a:rPr lang="en-US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𝑡</m:t>
                        </m:r>
                      </m:sub>
                    </m:sSub>
                    <m:r>
                      <a:rPr lang="en-US" i="1">
                        <a:latin typeface="Cambria Math" charset="0"/>
                        <a:ea typeface="Cambria Math" charset="0"/>
                        <a:cs typeface="Cambria Math" charset="0"/>
                      </a:rPr>
                      <m:t>=</m:t>
                    </m:r>
                    <m:r>
                      <a:rPr lang="en-US" i="1">
                        <a:latin typeface="Cambria Math" charset="0"/>
                        <a:ea typeface="Cambria Math" charset="0"/>
                        <a:cs typeface="Cambria Math" charset="0"/>
                      </a:rPr>
                      <m:t>𝜃</m:t>
                    </m:r>
                    <m:d>
                      <m:dPr>
                        <m:ctrlPr>
                          <a:rPr lang="is-IS" i="1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𝐵</m:t>
                        </m:r>
                      </m:e>
                    </m:d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𝑍</m:t>
                        </m:r>
                      </m:e>
                      <m:sub>
                        <m:r>
                          <a:rPr lang="en-US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𝑡</m:t>
                        </m:r>
                      </m:sub>
                    </m:sSub>
                    <m:r>
                      <a:rPr lang="en-US" i="1">
                        <a:latin typeface="Cambria Math" charset="0"/>
                        <a:ea typeface="Cambria Math" charset="0"/>
                        <a:cs typeface="Cambria Math" charset="0"/>
                      </a:rPr>
                      <m:t>,</m:t>
                    </m:r>
                  </m:oMath>
                </a14:m>
                <a:endParaRPr lang="en-US" dirty="0">
                  <a:latin typeface="Helvetica" charset="0"/>
                </a:endParaRPr>
              </a:p>
              <a:p>
                <a:r>
                  <a:rPr lang="en-US" dirty="0">
                    <a:latin typeface="Helvetica" charset="0"/>
                  </a:rPr>
                  <a:t>where</a:t>
                </a:r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 charset="0"/>
                        <a:ea typeface="Cambria Math" charset="0"/>
                        <a:cs typeface="Cambria Math" charset="0"/>
                      </a:rPr>
                      <m:t>𝜙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𝑧</m:t>
                        </m:r>
                      </m:e>
                    </m:d>
                    <m:r>
                      <a:rPr lang="en-US" i="1">
                        <a:latin typeface="Cambria Math" charset="0"/>
                        <a:ea typeface="Cambria Math" charset="0"/>
                        <a:cs typeface="Cambria Math" charset="0"/>
                      </a:rPr>
                      <m:t>=1−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𝜙</m:t>
                        </m:r>
                      </m:e>
                      <m:sub>
                        <m:r>
                          <a:rPr lang="en-US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charset="0"/>
                        <a:ea typeface="Cambria Math" charset="0"/>
                        <a:cs typeface="Cambria Math" charset="0"/>
                      </a:rPr>
                      <m:t>𝑧</m:t>
                    </m:r>
                    <m:r>
                      <a:rPr lang="en-US" i="1">
                        <a:latin typeface="Cambria Math" charset="0"/>
                        <a:ea typeface="Cambria Math" charset="0"/>
                        <a:cs typeface="Cambria Math" charset="0"/>
                      </a:rPr>
                      <m:t>− .. . −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𝜙</m:t>
                        </m:r>
                      </m:e>
                      <m:sub>
                        <m:r>
                          <a:rPr lang="en-US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𝑝</m:t>
                        </m:r>
                      </m:sub>
                    </m:sSub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𝑧</m:t>
                        </m:r>
                      </m:e>
                      <m:sup>
                        <m:r>
                          <a:rPr lang="en-US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𝑝</m:t>
                        </m:r>
                      </m:sup>
                    </m:sSup>
                  </m:oMath>
                </a14:m>
                <a:endParaRPr lang="en-US" dirty="0">
                  <a:latin typeface="Helvetica" charset="0"/>
                </a:endParaRPr>
              </a:p>
              <a:p>
                <a:r>
                  <a:rPr lang="en-US" dirty="0">
                    <a:latin typeface="Helvetica" charset="0"/>
                  </a:rPr>
                  <a:t>and</a:t>
                </a:r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 charset="0"/>
                        <a:ea typeface="Cambria Math" charset="0"/>
                        <a:cs typeface="Cambria Math" charset="0"/>
                      </a:rPr>
                      <m:t>𝜃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𝑧</m:t>
                        </m:r>
                      </m:e>
                    </m:d>
                    <m:r>
                      <a:rPr lang="en-US" i="1">
                        <a:latin typeface="Cambria Math" charset="0"/>
                        <a:ea typeface="Cambria Math" charset="0"/>
                        <a:cs typeface="Cambria Math" charset="0"/>
                      </a:rPr>
                      <m:t>=1</m:t>
                    </m:r>
                    <m:r>
                      <a:rPr lang="fr-FR" b="0" i="1" smtClean="0">
                        <a:latin typeface="Cambria Math" panose="02040503050406030204" pitchFamily="18" charset="0"/>
                        <a:ea typeface="Cambria Math" charset="0"/>
                        <a:cs typeface="Cambria Math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𝜃</m:t>
                        </m:r>
                      </m:e>
                      <m:sub>
                        <m:r>
                          <a:rPr lang="en-US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charset="0"/>
                        <a:ea typeface="Cambria Math" charset="0"/>
                        <a:cs typeface="Cambria Math" charset="0"/>
                      </a:rPr>
                      <m:t>𝑧</m:t>
                    </m:r>
                    <m:r>
                      <a:rPr lang="fr-FR" b="0" i="1" smtClean="0">
                        <a:latin typeface="Cambria Math" panose="02040503050406030204" pitchFamily="18" charset="0"/>
                        <a:ea typeface="Cambria Math" charset="0"/>
                        <a:cs typeface="Cambria Math" charset="0"/>
                      </a:rPr>
                      <m:t>+</m:t>
                    </m:r>
                    <m:r>
                      <a:rPr lang="en-US" i="1">
                        <a:latin typeface="Cambria Math" charset="0"/>
                        <a:ea typeface="Cambria Math" charset="0"/>
                        <a:cs typeface="Cambria Math" charset="0"/>
                      </a:rPr>
                      <m:t> .. . </m:t>
                    </m:r>
                    <m:r>
                      <a:rPr lang="fr-FR" b="0" i="1" smtClean="0">
                        <a:latin typeface="Cambria Math" panose="02040503050406030204" pitchFamily="18" charset="0"/>
                        <a:ea typeface="Cambria Math" charset="0"/>
                        <a:cs typeface="Cambria Math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𝜃</m:t>
                        </m:r>
                      </m:e>
                      <m:sub>
                        <m:r>
                          <a:rPr lang="en-US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𝑝</m:t>
                        </m:r>
                      </m:sub>
                    </m:sSub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𝑧</m:t>
                        </m:r>
                      </m:e>
                      <m:sup>
                        <m:r>
                          <a:rPr lang="en-US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𝑝</m:t>
                        </m:r>
                      </m:sup>
                    </m:sSup>
                  </m:oMath>
                </a14:m>
                <a:endParaRPr lang="en-US" dirty="0">
                  <a:latin typeface="Helvetica" charset="0"/>
                  <a:ea typeface="Cambria Math" charset="0"/>
                  <a:cs typeface="Cambria Math" charset="0"/>
                </a:endParaRPr>
              </a:p>
              <a:p>
                <a:endParaRPr lang="en-US" dirty="0">
                  <a:latin typeface="Helvetica" charset="0"/>
                </a:endParaRPr>
              </a:p>
              <a:p>
                <a:r>
                  <a:rPr lang="en-US" dirty="0">
                    <a:latin typeface="Helvetica" charset="0"/>
                  </a:rPr>
                  <a:t>The polynomials are called the autoregressive and moving average polynomials, respectively.</a:t>
                </a:r>
              </a:p>
              <a:p>
                <a:pPr>
                  <a:lnSpc>
                    <a:spcPct val="110000"/>
                  </a:lnSpc>
                </a:pPr>
                <a:endParaRPr lang="en-US" sz="2200" dirty="0">
                  <a:latin typeface="Helvetica Neue"/>
                </a:endParaRPr>
              </a:p>
            </p:txBody>
          </p:sp>
        </mc:Choice>
        <mc:Fallback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8A3C5F59-5E7F-4163-AC32-E785A55F31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7349" y="1119353"/>
                <a:ext cx="9885564" cy="4592334"/>
              </a:xfrm>
              <a:prstGeom prst="rect">
                <a:avLst/>
              </a:prstGeom>
              <a:blipFill>
                <a:blip r:embed="rId2"/>
                <a:stretch>
                  <a:fillRect l="-1418" t="-7304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058049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CBCA43BC-A90B-4486-AAD6-A5A4AFA5FC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8F3A4-F597-494F-8F9B-1014E0A0E60E}" type="datetime1">
              <a:rPr lang="en-US" smtClean="0"/>
              <a:t>3/14/2019</a:t>
            </a:fld>
            <a:endParaRPr lang="en-US" dirty="0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5D0A0DAB-85A5-4ED0-B4E9-F8DCD90F95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Aymen Ben Brik</a:t>
            </a:r>
            <a:endParaRPr lang="en-US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BA03FD7-2071-4359-A05C-44C1443BA8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A189AC79-1457-4EC6-BD76-A4EE4CCA0B2A}"/>
              </a:ext>
            </a:extLst>
          </p:cNvPr>
          <p:cNvSpPr txBox="1">
            <a:spLocks/>
          </p:cNvSpPr>
          <p:nvPr/>
        </p:nvSpPr>
        <p:spPr>
          <a:xfrm>
            <a:off x="1510748" y="274679"/>
            <a:ext cx="9992274" cy="616276"/>
          </a:xfrm>
          <a:prstGeom prst="rect">
            <a:avLst/>
          </a:prstGeom>
        </p:spPr>
        <p:txBody>
          <a:bodyPr/>
          <a:lstStyle>
            <a:lvl1pPr algn="ctr" defTabSz="457200" rtl="0" eaLnBrk="1" latinLnBrk="0" hangingPunct="1">
              <a:spcBef>
                <a:spcPct val="0"/>
              </a:spcBef>
              <a:buNone/>
              <a:defRPr sz="4000" kern="1200" cap="none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l"/>
            <a:r>
              <a:rPr lang="en-US" sz="3600"/>
              <a:t>ARMA Model: Stationarity</a:t>
            </a:r>
            <a:endParaRPr lang="en-US" sz="36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2CADB990-07EB-4A78-B59C-326D9F86DD0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510748" y="1198866"/>
                <a:ext cx="9992274" cy="4684409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marL="285750" indent="-28575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>
                      <a:lumMod val="75000"/>
                    </a:schemeClr>
                  </a:buClr>
                  <a:buSzPct val="145000"/>
                  <a:buFont typeface="Arial"/>
                  <a:buChar char="•"/>
                  <a:defRPr sz="2400" kern="1200" cap="none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742950" indent="-28575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>
                      <a:lumMod val="75000"/>
                    </a:schemeClr>
                  </a:buClr>
                  <a:buSzPct val="145000"/>
                  <a:buFont typeface="Arial"/>
                  <a:buChar char="•"/>
                  <a:defRPr sz="2000" kern="1200" cap="none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2pPr>
                <a:lvl3pPr marL="1200150" indent="-28575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>
                      <a:lumMod val="75000"/>
                    </a:schemeClr>
                  </a:buClr>
                  <a:buSzPct val="145000"/>
                  <a:buFont typeface="Arial"/>
                  <a:buChar char="•"/>
                  <a:defRPr sz="1800" kern="1200" cap="none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3pPr>
                <a:lvl4pPr marL="1543050" indent="-17145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>
                      <a:lumMod val="75000"/>
                    </a:schemeClr>
                  </a:buClr>
                  <a:buSzPct val="145000"/>
                  <a:buFont typeface="Arial"/>
                  <a:buChar char="•"/>
                  <a:defRPr sz="1600" kern="1200" cap="none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4pPr>
                <a:lvl5pPr marL="2000250" indent="-17145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>
                      <a:lumMod val="75000"/>
                    </a:schemeClr>
                  </a:buClr>
                  <a:buSzPct val="145000"/>
                  <a:buFont typeface="Arial"/>
                  <a:buChar char="•"/>
                  <a:defRPr sz="1400" kern="1200" cap="none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>
                      <a:lumMod val="75000"/>
                    </a:schemeClr>
                  </a:buClr>
                  <a:buSzPct val="145000"/>
                  <a:buFont typeface="Arial"/>
                  <a:buChar char="•"/>
                  <a:defRPr sz="1400" kern="1200" cap="none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>
                      <a:lumMod val="75000"/>
                    </a:schemeClr>
                  </a:buClr>
                  <a:buSzPct val="145000"/>
                  <a:buFont typeface="Arial"/>
                  <a:buChar char="•"/>
                  <a:defRPr sz="1400" kern="1200" cap="none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>
                      <a:lumMod val="75000"/>
                    </a:schemeClr>
                  </a:buClr>
                  <a:buSzPct val="145000"/>
                  <a:buFont typeface="Arial"/>
                  <a:buChar char="•"/>
                  <a:defRPr sz="1400" kern="1200" cap="none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>
                      <a:lumMod val="75000"/>
                    </a:schemeClr>
                  </a:buClr>
                  <a:buSzPct val="145000"/>
                  <a:buFont typeface="Arial"/>
                  <a:buChar char="•"/>
                  <a:defRPr sz="1400" kern="1200" cap="none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dirty="0">
                    <a:latin typeface="Helvetica" charset="0"/>
                  </a:rPr>
                  <a:t>Not all formulations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charset="0"/>
                        <a:ea typeface="Cambria Math" charset="0"/>
                        <a:cs typeface="Cambria Math" charset="0"/>
                      </a:rPr>
                      <m:t>𝜙</m:t>
                    </m:r>
                    <m:d>
                      <m:dPr>
                        <m:ctrlPr>
                          <a:rPr lang="is-IS" i="1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𝐵</m:t>
                        </m:r>
                      </m:e>
                    </m:d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𝑋</m:t>
                        </m:r>
                      </m:e>
                      <m:sub>
                        <m:r>
                          <a:rPr lang="en-US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𝑡</m:t>
                        </m:r>
                      </m:sub>
                    </m:sSub>
                    <m:r>
                      <a:rPr lang="en-US" i="1">
                        <a:latin typeface="Cambria Math" charset="0"/>
                        <a:ea typeface="Cambria Math" charset="0"/>
                        <a:cs typeface="Cambria Math" charset="0"/>
                      </a:rPr>
                      <m:t>=</m:t>
                    </m:r>
                    <m:r>
                      <a:rPr lang="en-US" i="1">
                        <a:latin typeface="Cambria Math" charset="0"/>
                        <a:ea typeface="Cambria Math" charset="0"/>
                        <a:cs typeface="Cambria Math" charset="0"/>
                      </a:rPr>
                      <m:t>𝜃</m:t>
                    </m:r>
                    <m:d>
                      <m:dPr>
                        <m:ctrlPr>
                          <a:rPr lang="is-IS" i="1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𝐵</m:t>
                        </m:r>
                      </m:e>
                    </m:d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𝑍</m:t>
                        </m:r>
                      </m:e>
                      <m:sub>
                        <m:r>
                          <a:rPr lang="en-US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dirty="0">
                    <a:latin typeface="Helvetica" charset="0"/>
                  </a:rPr>
                  <a:t> model a stationary time series:</a:t>
                </a:r>
              </a:p>
              <a:p>
                <a:endParaRPr lang="en-US" dirty="0">
                  <a:latin typeface="Helvetica" charset="0"/>
                </a:endParaRPr>
              </a:p>
              <a:p>
                <a:r>
                  <a:rPr lang="en-US" i="1" dirty="0">
                    <a:latin typeface="Helvetica" charset="0"/>
                  </a:rPr>
                  <a:t>A stationary solution to the ARMA equation exists</a:t>
                </a:r>
                <a:r>
                  <a:rPr lang="zh-CN" altLang="en-US" i="1" dirty="0">
                    <a:latin typeface="Helvetica" charset="0"/>
                  </a:rPr>
                  <a:t> </a:t>
                </a:r>
                <a:r>
                  <a:rPr lang="en-US" i="1" dirty="0">
                    <a:latin typeface="Helvetica" charset="0"/>
                  </a:rPr>
                  <a:t>and is unique if and only if</a:t>
                </a:r>
              </a:p>
              <a:p>
                <a:endParaRPr lang="en-US" i="1" dirty="0">
                  <a:latin typeface="Helvetica" charset="0"/>
                </a:endParaRPr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 charset="0"/>
                        <a:ea typeface="Cambria Math" charset="0"/>
                        <a:cs typeface="Cambria Math" charset="0"/>
                      </a:rPr>
                      <m:t>𝜙</m:t>
                    </m:r>
                    <m:d>
                      <m:dPr>
                        <m:ctrlPr>
                          <a:rPr lang="is-IS" i="1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𝑧</m:t>
                        </m:r>
                      </m:e>
                    </m:d>
                    <m:r>
                      <a:rPr lang="is-IS" i="1">
                        <a:latin typeface="Cambria Math" charset="0"/>
                        <a:ea typeface="Cambria Math" charset="0"/>
                        <a:cs typeface="Cambria Math" charset="0"/>
                      </a:rPr>
                      <m:t>≠</m:t>
                    </m:r>
                    <m:r>
                      <a:rPr lang="en-US" i="1">
                        <a:latin typeface="Cambria Math" charset="0"/>
                        <a:ea typeface="Cambria Math" charset="0"/>
                        <a:cs typeface="Cambria Math" charset="0"/>
                      </a:rPr>
                      <m:t>0  </m:t>
                    </m:r>
                    <m:r>
                      <m:rPr>
                        <m:nor/>
                      </m:rPr>
                      <a:rPr lang="en-US">
                        <a:latin typeface="Cambria Math" charset="0"/>
                        <a:ea typeface="Cambria Math" charset="0"/>
                        <a:cs typeface="Cambria Math" charset="0"/>
                      </a:rPr>
                      <m:t>for</m:t>
                    </m:r>
                    <m:r>
                      <m:rPr>
                        <m:nor/>
                      </m:rPr>
                      <a:rPr lang="en-US">
                        <a:latin typeface="Cambria Math" charset="0"/>
                        <a:ea typeface="Cambria Math" charset="0"/>
                        <a:cs typeface="Cambria Math" charset="0"/>
                      </a:rPr>
                      <m:t> </m:t>
                    </m:r>
                    <m:r>
                      <m:rPr>
                        <m:nor/>
                      </m:rPr>
                      <a:rPr lang="en-US">
                        <a:latin typeface="Cambria Math" charset="0"/>
                        <a:ea typeface="Cambria Math" charset="0"/>
                        <a:cs typeface="Cambria Math" charset="0"/>
                      </a:rPr>
                      <m:t>all</m:t>
                    </m:r>
                    <m:r>
                      <m:rPr>
                        <m:nor/>
                      </m:rPr>
                      <a:rPr lang="en-US">
                        <a:latin typeface="Cambria Math" charset="0"/>
                        <a:ea typeface="Cambria Math" charset="0"/>
                        <a:cs typeface="Cambria Math" charset="0"/>
                      </a:rPr>
                      <m:t>  </m:t>
                    </m:r>
                    <m:r>
                      <a:rPr lang="en-US" i="1">
                        <a:latin typeface="Cambria Math" charset="0"/>
                        <a:ea typeface="Cambria Math" charset="0"/>
                        <a:cs typeface="Cambria Math" charset="0"/>
                      </a:rPr>
                      <m:t>𝑧</m:t>
                    </m:r>
                    <m:r>
                      <a:rPr lang="en-US" i="1">
                        <a:latin typeface="Cambria Math" charset="0"/>
                        <a:ea typeface="Cambria Math" charset="0"/>
                        <a:cs typeface="Cambria Math" charset="0"/>
                      </a:rPr>
                      <m:t>∈</m:t>
                    </m:r>
                    <m:r>
                      <a:rPr lang="en-US" i="1">
                        <a:latin typeface="Cambria Math" charset="0"/>
                        <a:ea typeface="Cambria Math" charset="0"/>
                        <a:cs typeface="Cambria Math" charset="0"/>
                      </a:rPr>
                      <m:t>ℂ</m:t>
                    </m:r>
                    <m:r>
                      <a:rPr lang="en-US" i="1">
                        <a:latin typeface="Cambria Math" charset="0"/>
                        <a:ea typeface="Cambria Math" charset="0"/>
                        <a:cs typeface="Cambria Math" charset="0"/>
                      </a:rPr>
                      <m:t>  </m:t>
                    </m:r>
                    <m:r>
                      <m:rPr>
                        <m:nor/>
                      </m:rPr>
                      <a:rPr lang="en-US">
                        <a:latin typeface="Cambria Math" charset="0"/>
                        <a:ea typeface="Cambria Math" charset="0"/>
                        <a:cs typeface="Cambria Math" charset="0"/>
                      </a:rPr>
                      <m:t>such</m:t>
                    </m:r>
                    <m:r>
                      <m:rPr>
                        <m:nor/>
                      </m:rPr>
                      <a:rPr lang="en-US">
                        <a:latin typeface="Cambria Math" charset="0"/>
                        <a:ea typeface="Cambria Math" charset="0"/>
                        <a:cs typeface="Cambria Math" charset="0"/>
                      </a:rPr>
                      <m:t> </m:t>
                    </m:r>
                    <m:r>
                      <m:rPr>
                        <m:nor/>
                      </m:rPr>
                      <a:rPr lang="en-US">
                        <a:latin typeface="Cambria Math" charset="0"/>
                        <a:ea typeface="Cambria Math" charset="0"/>
                        <a:cs typeface="Cambria Math" charset="0"/>
                      </a:rPr>
                      <m:t>that</m:t>
                    </m:r>
                    <m:r>
                      <a:rPr lang="en-US" i="1">
                        <a:latin typeface="Cambria Math" charset="0"/>
                        <a:ea typeface="Cambria Math" charset="0"/>
                        <a:cs typeface="Cambria Math" charset="0"/>
                      </a:rPr>
                      <m:t>  </m:t>
                    </m:r>
                    <m:d>
                      <m:dPr>
                        <m:begChr m:val="|"/>
                        <m:endChr m:val="|"/>
                        <m:ctrlPr>
                          <a:rPr lang="hr-HR" i="1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𝑧</m:t>
                        </m:r>
                      </m:e>
                    </m:d>
                    <m:r>
                      <a:rPr lang="en-US" i="1">
                        <a:latin typeface="Cambria Math" charset="0"/>
                        <a:ea typeface="Cambria Math" charset="0"/>
                        <a:cs typeface="Cambria Math" charset="0"/>
                      </a:rPr>
                      <m:t>=1</m:t>
                    </m:r>
                  </m:oMath>
                </a14:m>
                <a:endParaRPr lang="en-US" i="1" dirty="0">
                  <a:latin typeface="Helvetica" charset="0"/>
                </a:endParaRPr>
              </a:p>
              <a:p>
                <a:endParaRPr lang="en-US" dirty="0">
                  <a:latin typeface="Helvetica" charset="0"/>
                </a:endParaRPr>
              </a:p>
              <a:p>
                <a:r>
                  <a:rPr lang="en-US" i="1" dirty="0">
                    <a:latin typeface="Helvetica" charset="0"/>
                  </a:rPr>
                  <a:t>(That is, it exists and is unique if and only if no zeroes of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charset="0"/>
                        <a:ea typeface="Cambria Math" charset="0"/>
                        <a:cs typeface="Cambria Math" charset="0"/>
                      </a:rPr>
                      <m:t>𝜙</m:t>
                    </m:r>
                    <m:d>
                      <m:dPr>
                        <m:ctrlPr>
                          <a:rPr lang="is-IS" i="1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𝑧</m:t>
                        </m:r>
                      </m:e>
                    </m:d>
                  </m:oMath>
                </a14:m>
                <a:r>
                  <a:rPr lang="en-US" i="1" dirty="0">
                    <a:latin typeface="Helvetica" charset="0"/>
                  </a:rPr>
                  <a:t> lie on</a:t>
                </a:r>
                <a:r>
                  <a:rPr lang="zh-CN" altLang="en-US" i="1" dirty="0">
                    <a:latin typeface="Helvetica" charset="0"/>
                  </a:rPr>
                  <a:t> </a:t>
                </a:r>
                <a:r>
                  <a:rPr lang="en-US" altLang="zh-CN" i="1" dirty="0">
                    <a:latin typeface="Helvetica" charset="0"/>
                  </a:rPr>
                  <a:t>t</a:t>
                </a:r>
                <a:r>
                  <a:rPr lang="en-US" i="1" dirty="0">
                    <a:latin typeface="Helvetica" charset="0"/>
                  </a:rPr>
                  <a:t>he unit circle.)</a:t>
                </a:r>
                <a:endParaRPr lang="en-US" dirty="0">
                  <a:latin typeface="Helvetica" charset="0"/>
                </a:endParaRPr>
              </a:p>
              <a:p>
                <a:pPr>
                  <a:lnSpc>
                    <a:spcPct val="110000"/>
                  </a:lnSpc>
                </a:pPr>
                <a:endParaRPr lang="en-US" sz="2200" dirty="0">
                  <a:latin typeface="Helvetica Neue"/>
                </a:endParaRPr>
              </a:p>
            </p:txBody>
          </p:sp>
        </mc:Choice>
        <mc:Fallback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2CADB990-07EB-4A78-B59C-326D9F86DD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10748" y="1198866"/>
                <a:ext cx="9992274" cy="4684409"/>
              </a:xfrm>
              <a:prstGeom prst="rect">
                <a:avLst/>
              </a:prstGeom>
              <a:blipFill>
                <a:blip r:embed="rId2"/>
                <a:stretch>
                  <a:fillRect l="-1586" t="-4688" r="-244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865962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666F6B07-5BEE-4A28-907D-3E66A75AEB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8F3A4-F597-494F-8F9B-1014E0A0E60E}" type="datetime1">
              <a:rPr lang="en-US" smtClean="0"/>
              <a:t>3/14/2019</a:t>
            </a:fld>
            <a:endParaRPr lang="en-US" dirty="0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D2A4F17B-C5E2-455B-BFE4-0BD25ADBDD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Aymen Ben Brik</a:t>
            </a:r>
            <a:endParaRPr lang="en-US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ED364B99-4D38-4561-83FD-DADA4B2766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C6028D9B-0785-465A-B61E-0DDFE5350F10}"/>
              </a:ext>
            </a:extLst>
          </p:cNvPr>
          <p:cNvSpPr txBox="1">
            <a:spLocks/>
          </p:cNvSpPr>
          <p:nvPr/>
        </p:nvSpPr>
        <p:spPr>
          <a:xfrm>
            <a:off x="1588349" y="142157"/>
            <a:ext cx="9914673" cy="616276"/>
          </a:xfrm>
          <a:prstGeom prst="rect">
            <a:avLst/>
          </a:prstGeom>
        </p:spPr>
        <p:txBody>
          <a:bodyPr/>
          <a:lstStyle>
            <a:lvl1pPr algn="ctr" defTabSz="457200" rtl="0" eaLnBrk="1" latinLnBrk="0" hangingPunct="1">
              <a:spcBef>
                <a:spcPct val="0"/>
              </a:spcBef>
              <a:buNone/>
              <a:defRPr sz="4000" kern="1200" cap="none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l"/>
            <a:r>
              <a:rPr lang="en-US" sz="3600"/>
              <a:t>Causal Process</a:t>
            </a:r>
            <a:endParaRPr lang="en-US" sz="36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08D52EEA-3FAC-401F-AEBE-C3B77B5A6C5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588349" y="907318"/>
                <a:ext cx="10033808" cy="5095917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marL="285750" indent="-28575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>
                      <a:lumMod val="75000"/>
                    </a:schemeClr>
                  </a:buClr>
                  <a:buSzPct val="145000"/>
                  <a:buFont typeface="Arial"/>
                  <a:buChar char="•"/>
                  <a:defRPr sz="2400" kern="1200" cap="none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742950" indent="-28575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>
                      <a:lumMod val="75000"/>
                    </a:schemeClr>
                  </a:buClr>
                  <a:buSzPct val="145000"/>
                  <a:buFont typeface="Arial"/>
                  <a:buChar char="•"/>
                  <a:defRPr sz="2000" kern="1200" cap="none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2pPr>
                <a:lvl3pPr marL="1200150" indent="-28575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>
                      <a:lumMod val="75000"/>
                    </a:schemeClr>
                  </a:buClr>
                  <a:buSzPct val="145000"/>
                  <a:buFont typeface="Arial"/>
                  <a:buChar char="•"/>
                  <a:defRPr sz="1800" kern="1200" cap="none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3pPr>
                <a:lvl4pPr marL="1543050" indent="-17145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>
                      <a:lumMod val="75000"/>
                    </a:schemeClr>
                  </a:buClr>
                  <a:buSzPct val="145000"/>
                  <a:buFont typeface="Arial"/>
                  <a:buChar char="•"/>
                  <a:defRPr sz="1600" kern="1200" cap="none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4pPr>
                <a:lvl5pPr marL="2000250" indent="-17145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>
                      <a:lumMod val="75000"/>
                    </a:schemeClr>
                  </a:buClr>
                  <a:buSzPct val="145000"/>
                  <a:buFont typeface="Arial"/>
                  <a:buChar char="•"/>
                  <a:defRPr sz="1400" kern="1200" cap="none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>
                      <a:lumMod val="75000"/>
                    </a:schemeClr>
                  </a:buClr>
                  <a:buSzPct val="145000"/>
                  <a:buFont typeface="Arial"/>
                  <a:buChar char="•"/>
                  <a:defRPr sz="1400" kern="1200" cap="none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>
                      <a:lumMod val="75000"/>
                    </a:schemeClr>
                  </a:buClr>
                  <a:buSzPct val="145000"/>
                  <a:buFont typeface="Arial"/>
                  <a:buChar char="•"/>
                  <a:defRPr sz="1400" kern="1200" cap="none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>
                      <a:lumMod val="75000"/>
                    </a:schemeClr>
                  </a:buClr>
                  <a:buSzPct val="145000"/>
                  <a:buFont typeface="Arial"/>
                  <a:buChar char="•"/>
                  <a:defRPr sz="1400" kern="1200" cap="none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>
                      <a:lumMod val="75000"/>
                    </a:schemeClr>
                  </a:buClr>
                  <a:buSzPct val="145000"/>
                  <a:buFont typeface="Arial"/>
                  <a:buChar char="•"/>
                  <a:defRPr sz="1400" kern="1200" cap="none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dirty="0">
                    <a:latin typeface="Helvetica" charset="0"/>
                  </a:rPr>
                  <a:t>An ARMA process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i="1">
                                <a:latin typeface="Cambria Math" charset="0"/>
                              </a:rPr>
                              <m:t>𝑡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>
                    <a:latin typeface="Helvetica" charset="0"/>
                  </a:rPr>
                  <a:t> is a </a:t>
                </a:r>
                <a:r>
                  <a:rPr lang="en-US" i="1" dirty="0">
                    <a:latin typeface="Helvetica" charset="0"/>
                  </a:rPr>
                  <a:t>causal function</a:t>
                </a:r>
                <a:r>
                  <a:rPr lang="en-US" dirty="0">
                    <a:latin typeface="Helvetica" charset="0"/>
                  </a:rPr>
                  <a:t>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charset="0"/>
                          </a:rPr>
                          <m:t>𝑍</m:t>
                        </m:r>
                      </m:e>
                      <m:sub>
                        <m:r>
                          <a:rPr lang="en-US" i="1">
                            <a:latin typeface="Cambria Math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dirty="0">
                    <a:latin typeface="Helvetica" charset="0"/>
                  </a:rPr>
                  <a:t> if there exist constants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charset="0"/>
                                <a:ea typeface="Cambria Math" charset="0"/>
                                <a:cs typeface="Cambria Math" charset="0"/>
                              </a:rPr>
                              <m:t>𝜓</m:t>
                            </m:r>
                          </m:e>
                          <m:sub>
                            <m:r>
                              <a:rPr lang="en-US" i="1">
                                <a:latin typeface="Cambria Math" charset="0"/>
                              </a:rPr>
                              <m:t>𝑗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>
                    <a:latin typeface="Helvetica" charset="0"/>
                  </a:rPr>
                  <a:t> such that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subSup"/>
                        <m:ctrlPr>
                          <a:rPr lang="is-I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US" i="1">
                            <a:latin typeface="Cambria Math" charset="0"/>
                          </a:rPr>
                          <m:t>𝑗</m:t>
                        </m:r>
                        <m:r>
                          <a:rPr lang="en-US" i="1">
                            <a:latin typeface="Cambria Math" charset="0"/>
                          </a:rPr>
                          <m:t>=0</m:t>
                        </m:r>
                      </m:sub>
                      <m:sup>
                        <m:r>
                          <a:rPr lang="is-IS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∞</m:t>
                        </m:r>
                      </m:sup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i="1" smtClean="0">
                                <a:latin typeface="Cambria Math" panose="02040503050406030204" pitchFamily="18" charset="0"/>
                                <a:ea typeface="Cambria Math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charset="0"/>
                                    <a:ea typeface="Cambria Math" charset="0"/>
                                    <a:cs typeface="Cambria Math" charset="0"/>
                                  </a:rPr>
                                  <m:t>𝜓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charset="0"/>
                                  </a:rPr>
                                  <m:t>𝑗</m:t>
                                </m:r>
                              </m:sub>
                            </m:sSub>
                          </m:e>
                        </m:d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&lt;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e>
                    </m:nary>
                  </m:oMath>
                </a14:m>
                <a:r>
                  <a:rPr lang="en-US" dirty="0">
                    <a:latin typeface="Helvetica" charset="0"/>
                  </a:rPr>
                  <a:t> and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charset="0"/>
                          </a:rPr>
                          <m:t>𝑋</m:t>
                        </m:r>
                      </m:e>
                      <m:sub>
                        <m:r>
                          <a:rPr lang="en-US" i="1">
                            <a:latin typeface="Cambria Math" charset="0"/>
                          </a:rPr>
                          <m:t>𝑡</m:t>
                        </m:r>
                      </m:sub>
                    </m:sSub>
                    <m:r>
                      <a:rPr lang="en-US" i="1">
                        <a:latin typeface="Cambria Math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is-I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i="1">
                            <a:latin typeface="Cambria Math" charset="0"/>
                          </a:rPr>
                          <m:t>𝑗</m:t>
                        </m:r>
                        <m:r>
                          <a:rPr lang="en-US" i="1">
                            <a:latin typeface="Cambria Math" charset="0"/>
                          </a:rPr>
                          <m:t>=0</m:t>
                        </m:r>
                      </m:sub>
                      <m:sup>
                        <m:r>
                          <a:rPr lang="is-IS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∞</m:t>
                        </m:r>
                      </m:sup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charset="0"/>
                                <a:ea typeface="Cambria Math" charset="0"/>
                                <a:cs typeface="Cambria Math" charset="0"/>
                              </a:rPr>
                              <m:t>𝜓</m:t>
                            </m:r>
                          </m:e>
                          <m:sub>
                            <m:r>
                              <a:rPr lang="en-US" i="1">
                                <a:latin typeface="Cambria Math" charset="0"/>
                              </a:rPr>
                              <m:t>𝑗</m:t>
                            </m:r>
                          </m:sub>
                        </m:sSub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charset="0"/>
                              </a:rPr>
                              <m:t>𝑍</m:t>
                            </m:r>
                          </m:e>
                          <m:sub>
                            <m:r>
                              <a:rPr lang="en-US" i="1">
                                <a:latin typeface="Cambria Math" charset="0"/>
                              </a:rPr>
                              <m:t>𝑡</m:t>
                            </m:r>
                            <m:r>
                              <a:rPr lang="en-US" i="1">
                                <a:latin typeface="Cambria Math" charset="0"/>
                              </a:rPr>
                              <m:t>−</m:t>
                            </m:r>
                            <m:r>
                              <a:rPr lang="en-US" i="1">
                                <a:latin typeface="Cambria Math" charset="0"/>
                              </a:rPr>
                              <m:t>𝑗</m:t>
                            </m:r>
                          </m:sub>
                        </m:sSub>
                      </m:e>
                    </m:nary>
                    <m:r>
                      <a:rPr lang="en-US" i="1">
                        <a:latin typeface="Cambria Math" charset="0"/>
                      </a:rPr>
                      <m:t>   </m:t>
                    </m:r>
                    <m:r>
                      <m:rPr>
                        <m:nor/>
                      </m:rPr>
                      <a:rPr lang="en-US">
                        <a:latin typeface="Cambria Math" charset="0"/>
                      </a:rPr>
                      <m:t>for</m:t>
                    </m:r>
                    <m:r>
                      <m:rPr>
                        <m:nor/>
                      </m:rPr>
                      <a:rPr lang="en-US">
                        <a:latin typeface="Cambria Math" charset="0"/>
                      </a:rPr>
                      <m:t> </m:t>
                    </m:r>
                    <m:r>
                      <m:rPr>
                        <m:nor/>
                      </m:rPr>
                      <a:rPr lang="en-US">
                        <a:latin typeface="Cambria Math" charset="0"/>
                      </a:rPr>
                      <m:t>all</m:t>
                    </m:r>
                    <m:r>
                      <a:rPr lang="en-US" i="1">
                        <a:latin typeface="Cambria Math" charset="0"/>
                      </a:rPr>
                      <m:t>   </m:t>
                    </m:r>
                    <m:r>
                      <a:rPr lang="en-US" i="1">
                        <a:latin typeface="Cambria Math" charset="0"/>
                      </a:rPr>
                      <m:t>𝑡</m:t>
                    </m:r>
                    <m:r>
                      <a:rPr lang="en-US" i="1">
                        <a:latin typeface="Cambria Math" charset="0"/>
                        <a:ea typeface="Cambria Math" charset="0"/>
                        <a:cs typeface="Cambria Math" charset="0"/>
                      </a:rPr>
                      <m:t>∈</m:t>
                    </m:r>
                    <m:r>
                      <a:rPr lang="en-US" i="1">
                        <a:latin typeface="Cambria Math" charset="0"/>
                        <a:ea typeface="Cambria Math" charset="0"/>
                        <a:cs typeface="Cambria Math" charset="0"/>
                      </a:rPr>
                      <m:t>ℤ</m:t>
                    </m:r>
                    <m:r>
                      <a:rPr lang="en-US" i="1">
                        <a:latin typeface="Cambria Math" charset="0"/>
                        <a:ea typeface="Cambria Math" charset="0"/>
                        <a:cs typeface="Cambria Math" charset="0"/>
                      </a:rPr>
                      <m:t>.                                                                                     </m:t>
                    </m:r>
                  </m:oMath>
                </a14:m>
                <a:endParaRPr lang="en-US" dirty="0">
                  <a:latin typeface="Helvetica" charset="0"/>
                </a:endParaRPr>
              </a:p>
              <a:p>
                <a:r>
                  <a:rPr lang="en-US" i="1" dirty="0">
                    <a:latin typeface="Helvetica" charset="0"/>
                  </a:rPr>
                  <a:t>Suppose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i="1">
                                <a:latin typeface="Cambria Math" charset="0"/>
                              </a:rPr>
                              <m:t>𝑡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i="1" dirty="0">
                    <a:latin typeface="Helvetica" charset="0"/>
                  </a:rPr>
                  <a:t> is an ARMA process for which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charset="0"/>
                        <a:ea typeface="Cambria Math" charset="0"/>
                        <a:cs typeface="Cambria Math" charset="0"/>
                      </a:rPr>
                      <m:t>𝜙</m:t>
                    </m:r>
                    <m:d>
                      <m:dPr>
                        <m:ctrlPr>
                          <a:rPr lang="is-IS" i="1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</m:ctrlPr>
                      </m:dPr>
                      <m:e>
                        <m:r>
                          <a:rPr lang="is-IS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∙</m:t>
                        </m:r>
                      </m:e>
                    </m:d>
                  </m:oMath>
                </a14:m>
                <a:r>
                  <a:rPr lang="en-US" i="1" dirty="0">
                    <a:latin typeface="Helvetica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charset="0"/>
                        <a:ea typeface="Cambria Math" charset="0"/>
                        <a:cs typeface="Cambria Math" charset="0"/>
                      </a:rPr>
                      <m:t>𝜃</m:t>
                    </m:r>
                    <m:d>
                      <m:dPr>
                        <m:ctrlPr>
                          <a:rPr lang="is-IS" i="1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</m:ctrlPr>
                      </m:dPr>
                      <m:e>
                        <m:r>
                          <a:rPr lang="is-IS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∙</m:t>
                        </m:r>
                      </m:e>
                    </m:d>
                  </m:oMath>
                </a14:m>
                <a:r>
                  <a:rPr lang="en-US" i="1" dirty="0">
                    <a:latin typeface="Helvetica" charset="0"/>
                  </a:rPr>
                  <a:t> have no common zeroes. Then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i="1">
                                <a:latin typeface="Cambria Math" charset="0"/>
                              </a:rPr>
                              <m:t>𝑡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i="1" dirty="0">
                    <a:latin typeface="Helvetica" charset="0"/>
                  </a:rPr>
                  <a:t> is causal if and only if </a:t>
                </a:r>
                <a:endParaRPr lang="en-US" i="1" dirty="0">
                  <a:latin typeface="Cambria Math" charset="0"/>
                  <a:ea typeface="Cambria Math" charset="0"/>
                  <a:cs typeface="Cambria Math" charset="0"/>
                </a:endParaRPr>
              </a:p>
              <a:p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charset="0"/>
                        <a:cs typeface="Cambria Math" charset="0"/>
                      </a:rPr>
                      <m:t>  </m:t>
                    </m:r>
                    <m:r>
                      <a:rPr lang="en-US" i="1">
                        <a:latin typeface="Cambria Math" charset="0"/>
                        <a:ea typeface="Cambria Math" charset="0"/>
                        <a:cs typeface="Cambria Math" charset="0"/>
                      </a:rPr>
                      <m:t>𝜙</m:t>
                    </m:r>
                    <m:d>
                      <m:dPr>
                        <m:ctrlPr>
                          <a:rPr lang="is-IS" i="1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𝑧</m:t>
                        </m:r>
                      </m:e>
                    </m:d>
                    <m:r>
                      <a:rPr lang="is-IS" i="1">
                        <a:latin typeface="Cambria Math" charset="0"/>
                        <a:ea typeface="Cambria Math" charset="0"/>
                        <a:cs typeface="Cambria Math" charset="0"/>
                      </a:rPr>
                      <m:t>≠</m:t>
                    </m:r>
                    <m:r>
                      <a:rPr lang="en-US" i="1">
                        <a:latin typeface="Cambria Math" charset="0"/>
                        <a:ea typeface="Cambria Math" charset="0"/>
                        <a:cs typeface="Cambria Math" charset="0"/>
                      </a:rPr>
                      <m:t>0   </m:t>
                    </m:r>
                    <m:r>
                      <m:rPr>
                        <m:nor/>
                      </m:rPr>
                      <a:rPr lang="en-US" i="1">
                        <a:latin typeface="Cambria Math" charset="0"/>
                        <a:ea typeface="Cambria Math" charset="0"/>
                        <a:cs typeface="Cambria Math" charset="0"/>
                      </a:rPr>
                      <m:t>for</m:t>
                    </m:r>
                    <m:r>
                      <m:rPr>
                        <m:nor/>
                      </m:rPr>
                      <a:rPr lang="en-US" i="1">
                        <a:latin typeface="Cambria Math" charset="0"/>
                        <a:ea typeface="Cambria Math" charset="0"/>
                        <a:cs typeface="Cambria Math" charset="0"/>
                      </a:rPr>
                      <m:t> </m:t>
                    </m:r>
                    <m:r>
                      <m:rPr>
                        <m:nor/>
                      </m:rPr>
                      <a:rPr lang="en-US" i="1">
                        <a:latin typeface="Cambria Math" charset="0"/>
                        <a:ea typeface="Cambria Math" charset="0"/>
                        <a:cs typeface="Cambria Math" charset="0"/>
                      </a:rPr>
                      <m:t>all</m:t>
                    </m:r>
                    <m:r>
                      <a:rPr lang="en-US" i="1">
                        <a:latin typeface="Cambria Math" charset="0"/>
                        <a:ea typeface="Cambria Math" charset="0"/>
                        <a:cs typeface="Cambria Math" charset="0"/>
                      </a:rPr>
                      <m:t>   </m:t>
                    </m:r>
                    <m:r>
                      <a:rPr lang="en-US" i="1">
                        <a:latin typeface="Cambria Math" charset="0"/>
                        <a:ea typeface="Cambria Math" charset="0"/>
                        <a:cs typeface="Cambria Math" charset="0"/>
                      </a:rPr>
                      <m:t>𝑧</m:t>
                    </m:r>
                    <m:r>
                      <a:rPr lang="en-US" i="1">
                        <a:latin typeface="Cambria Math" charset="0"/>
                        <a:ea typeface="Cambria Math" charset="0"/>
                        <a:cs typeface="Cambria Math" charset="0"/>
                      </a:rPr>
                      <m:t>∈</m:t>
                    </m:r>
                    <m:r>
                      <a:rPr lang="en-US" i="1">
                        <a:latin typeface="Cambria Math" charset="0"/>
                        <a:ea typeface="Cambria Math" charset="0"/>
                        <a:cs typeface="Cambria Math" charset="0"/>
                      </a:rPr>
                      <m:t>ℂ</m:t>
                    </m:r>
                    <m:r>
                      <a:rPr lang="en-US" i="1">
                        <a:latin typeface="Cambria Math" charset="0"/>
                        <a:ea typeface="Cambria Math" charset="0"/>
                        <a:cs typeface="Cambria Math" charset="0"/>
                      </a:rPr>
                      <m:t>   </m:t>
                    </m:r>
                    <m:r>
                      <m:rPr>
                        <m:nor/>
                      </m:rPr>
                      <a:rPr lang="en-US" i="1">
                        <a:latin typeface="Cambria Math" charset="0"/>
                        <a:ea typeface="Cambria Math" charset="0"/>
                        <a:cs typeface="Cambria Math" charset="0"/>
                      </a:rPr>
                      <m:t>such</m:t>
                    </m:r>
                    <m:r>
                      <m:rPr>
                        <m:nor/>
                      </m:rPr>
                      <a:rPr lang="en-US" i="1">
                        <a:latin typeface="Cambria Math" charset="0"/>
                        <a:ea typeface="Cambria Math" charset="0"/>
                        <a:cs typeface="Cambria Math" charset="0"/>
                      </a:rPr>
                      <m:t> </m:t>
                    </m:r>
                    <m:r>
                      <m:rPr>
                        <m:nor/>
                      </m:rPr>
                      <a:rPr lang="en-US" i="1">
                        <a:latin typeface="Cambria Math" charset="0"/>
                        <a:ea typeface="Cambria Math" charset="0"/>
                        <a:cs typeface="Cambria Math" charset="0"/>
                      </a:rPr>
                      <m:t>that</m:t>
                    </m:r>
                    <m:r>
                      <a:rPr lang="en-US" i="1">
                        <a:latin typeface="Cambria Math" charset="0"/>
                        <a:ea typeface="Cambria Math" charset="0"/>
                        <a:cs typeface="Cambria Math" charset="0"/>
                      </a:rPr>
                      <m:t>   </m:t>
                    </m:r>
                    <m:d>
                      <m:dPr>
                        <m:begChr m:val="|"/>
                        <m:endChr m:val="|"/>
                        <m:ctrlPr>
                          <a:rPr lang="hr-HR" i="1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𝑧</m:t>
                        </m:r>
                      </m:e>
                    </m:d>
                    <m:r>
                      <a:rPr lang="hr-HR" i="1">
                        <a:latin typeface="Cambria Math" charset="0"/>
                        <a:ea typeface="Cambria Math" charset="0"/>
                        <a:cs typeface="Cambria Math" charset="0"/>
                      </a:rPr>
                      <m:t>≤</m:t>
                    </m:r>
                    <m:r>
                      <a:rPr lang="en-US" i="1">
                        <a:latin typeface="Cambria Math" charset="0"/>
                        <a:ea typeface="Cambria Math" charset="0"/>
                        <a:cs typeface="Cambria Math" charset="0"/>
                      </a:rPr>
                      <m:t>1.   </m:t>
                    </m:r>
                  </m:oMath>
                </a14:m>
                <a:endParaRPr lang="en-US" dirty="0">
                  <a:latin typeface="Helvetica" charset="0"/>
                </a:endParaRPr>
              </a:p>
              <a:p>
                <a:r>
                  <a:rPr lang="en-US" dirty="0">
                    <a:latin typeface="Helvetica" charset="0"/>
                  </a:rPr>
                  <a:t>The coefficients of the causal function are given by</a:t>
                </a:r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 charset="0"/>
                        <a:ea typeface="Cambria Math" charset="0"/>
                        <a:cs typeface="Cambria Math" charset="0"/>
                      </a:rPr>
                      <m:t>𝜓</m:t>
                    </m:r>
                    <m:d>
                      <m:dPr>
                        <m:ctrlPr>
                          <a:rPr lang="is-IS" i="1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𝑧</m:t>
                        </m:r>
                      </m:e>
                    </m:d>
                    <m:r>
                      <a:rPr lang="en-US" i="1">
                        <a:latin typeface="Cambria Math" charset="0"/>
                        <a:ea typeface="Cambria Math" charset="0"/>
                        <a:cs typeface="Cambria Math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is-IS" i="1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𝑗</m:t>
                        </m:r>
                        <m:r>
                          <a:rPr lang="en-US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=0</m:t>
                        </m:r>
                      </m:sub>
                      <m:sup>
                        <m:r>
                          <a:rPr lang="is-IS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∞</m:t>
                        </m:r>
                      </m:sup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charset="0"/>
                                <a:cs typeface="Cambria Math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charset="0"/>
                                <a:ea typeface="Cambria Math" charset="0"/>
                                <a:cs typeface="Cambria Math" charset="0"/>
                              </a:rPr>
                              <m:t>𝜓</m:t>
                            </m:r>
                          </m:e>
                          <m:sub>
                            <m:r>
                              <a:rPr lang="en-US" i="1">
                                <a:latin typeface="Cambria Math" charset="0"/>
                                <a:ea typeface="Cambria Math" charset="0"/>
                                <a:cs typeface="Cambria Math" charset="0"/>
                              </a:rPr>
                              <m:t>𝑗</m:t>
                            </m:r>
                          </m:sub>
                        </m:sSub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charset="0"/>
                                <a:cs typeface="Cambria Math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charset="0"/>
                                <a:ea typeface="Cambria Math" charset="0"/>
                                <a:cs typeface="Cambria Math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US" i="1">
                                <a:latin typeface="Cambria Math" charset="0"/>
                                <a:ea typeface="Cambria Math" charset="0"/>
                                <a:cs typeface="Cambria Math" charset="0"/>
                              </a:rPr>
                              <m:t>𝑗</m:t>
                            </m:r>
                          </m:sup>
                        </m:sSup>
                      </m:e>
                    </m:nary>
                    <m:r>
                      <a:rPr lang="en-US" i="1">
                        <a:latin typeface="Cambria Math" charset="0"/>
                        <a:ea typeface="Cambria Math" charset="0"/>
                        <a:cs typeface="Cambria Math" charset="0"/>
                      </a:rPr>
                      <m:t>=</m:t>
                    </m:r>
                    <m:f>
                      <m:fPr>
                        <m:ctrlPr>
                          <a:rPr lang="bg-BG" i="1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</m:ctrlPr>
                      </m:fPr>
                      <m:num>
                        <m:r>
                          <a:rPr lang="bg-BG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𝜃</m:t>
                        </m:r>
                        <m:r>
                          <a:rPr lang="en-US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(</m:t>
                        </m:r>
                        <m:r>
                          <a:rPr lang="en-US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𝑧</m:t>
                        </m:r>
                        <m:r>
                          <a:rPr lang="en-US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)</m:t>
                        </m:r>
                      </m:num>
                      <m:den>
                        <m:r>
                          <a:rPr lang="bg-BG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𝜙</m:t>
                        </m:r>
                        <m:r>
                          <a:rPr lang="en-US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(</m:t>
                        </m:r>
                        <m:r>
                          <a:rPr lang="en-US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𝑧</m:t>
                        </m:r>
                        <m:r>
                          <a:rPr lang="en-US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)</m:t>
                        </m:r>
                      </m:den>
                    </m:f>
                    <m:r>
                      <a:rPr lang="en-US">
                        <a:latin typeface="Cambria Math" charset="0"/>
                        <a:ea typeface="Cambria Math" charset="0"/>
                        <a:cs typeface="Cambria Math" charset="0"/>
                      </a:rPr>
                      <m:t>,   </m:t>
                    </m:r>
                    <m:d>
                      <m:dPr>
                        <m:begChr m:val="|"/>
                        <m:endChr m:val="|"/>
                        <m:ctrlPr>
                          <a:rPr lang="hr-HR" i="1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z</m:t>
                        </m:r>
                      </m:e>
                    </m:d>
                    <m:r>
                      <a:rPr lang="hr-HR">
                        <a:latin typeface="Cambria Math" charset="0"/>
                        <a:ea typeface="Cambria Math" charset="0"/>
                        <a:cs typeface="Cambria Math" charset="0"/>
                      </a:rPr>
                      <m:t>≤</m:t>
                    </m:r>
                    <m:r>
                      <a:rPr lang="en-US">
                        <a:latin typeface="Cambria Math" charset="0"/>
                        <a:ea typeface="Cambria Math" charset="0"/>
                        <a:cs typeface="Cambria Math" charset="0"/>
                      </a:rPr>
                      <m:t>1.</m:t>
                    </m:r>
                  </m:oMath>
                </a14:m>
                <a:endParaRPr lang="en-US" dirty="0">
                  <a:latin typeface="Helvetica" charset="0"/>
                </a:endParaRPr>
              </a:p>
            </p:txBody>
          </p:sp>
        </mc:Choice>
        <mc:Fallback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08D52EEA-3FAC-401F-AEBE-C3B77B5A6C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88349" y="907318"/>
                <a:ext cx="10033808" cy="5095917"/>
              </a:xfrm>
              <a:prstGeom prst="rect">
                <a:avLst/>
              </a:prstGeom>
              <a:blipFill>
                <a:blip r:embed="rId2"/>
                <a:stretch>
                  <a:fillRect l="-1580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630119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BDD4200E-9696-45D2-AD27-8D80C2AA1E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8F3A4-F597-494F-8F9B-1014E0A0E60E}" type="datetime1">
              <a:rPr lang="en-US" smtClean="0"/>
              <a:t>3/14/2019</a:t>
            </a:fld>
            <a:endParaRPr lang="en-US" dirty="0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7A52CBD6-A431-4D62-B36E-EB56BA4C52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Aymen Ben Brik</a:t>
            </a:r>
            <a:endParaRPr lang="en-US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F997138-5C32-45F4-8324-BA8FB6705B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7BD1BF35-00DF-4B12-813B-F73BE9F353A5}"/>
              </a:ext>
            </a:extLst>
          </p:cNvPr>
          <p:cNvSpPr txBox="1">
            <a:spLocks/>
          </p:cNvSpPr>
          <p:nvPr/>
        </p:nvSpPr>
        <p:spPr>
          <a:xfrm>
            <a:off x="1458295" y="115653"/>
            <a:ext cx="10044727" cy="616276"/>
          </a:xfrm>
          <a:prstGeom prst="rect">
            <a:avLst/>
          </a:prstGeom>
        </p:spPr>
        <p:txBody>
          <a:bodyPr/>
          <a:lstStyle>
            <a:lvl1pPr algn="ctr" defTabSz="457200" rtl="0" eaLnBrk="1" latinLnBrk="0" hangingPunct="1">
              <a:spcBef>
                <a:spcPct val="0"/>
              </a:spcBef>
              <a:buNone/>
              <a:defRPr sz="4000" kern="1200" cap="none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l"/>
            <a:r>
              <a:rPr lang="en-US" sz="3600"/>
              <a:t>Causal Process: Example</a:t>
            </a:r>
            <a:endParaRPr lang="en-US" sz="36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304D0040-59E1-4874-A0A9-5AE3D8950DF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391337" y="1252089"/>
                <a:ext cx="10283828" cy="4111025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 fontScale="85000" lnSpcReduction="10000"/>
              </a:bodyPr>
              <a:lstStyle>
                <a:lvl1pPr marL="285750" indent="-28575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>
                      <a:lumMod val="75000"/>
                    </a:schemeClr>
                  </a:buClr>
                  <a:buSzPct val="145000"/>
                  <a:buFont typeface="Arial"/>
                  <a:buChar char="•"/>
                  <a:defRPr sz="2400" kern="1200" cap="none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742950" indent="-28575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>
                      <a:lumMod val="75000"/>
                    </a:schemeClr>
                  </a:buClr>
                  <a:buSzPct val="145000"/>
                  <a:buFont typeface="Arial"/>
                  <a:buChar char="•"/>
                  <a:defRPr sz="2000" kern="1200" cap="none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2pPr>
                <a:lvl3pPr marL="1200150" indent="-28575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>
                      <a:lumMod val="75000"/>
                    </a:schemeClr>
                  </a:buClr>
                  <a:buSzPct val="145000"/>
                  <a:buFont typeface="Arial"/>
                  <a:buChar char="•"/>
                  <a:defRPr sz="1800" kern="1200" cap="none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3pPr>
                <a:lvl4pPr marL="1543050" indent="-17145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>
                      <a:lumMod val="75000"/>
                    </a:schemeClr>
                  </a:buClr>
                  <a:buSzPct val="145000"/>
                  <a:buFont typeface="Arial"/>
                  <a:buChar char="•"/>
                  <a:defRPr sz="1600" kern="1200" cap="none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4pPr>
                <a:lvl5pPr marL="2000250" indent="-17145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>
                      <a:lumMod val="75000"/>
                    </a:schemeClr>
                  </a:buClr>
                  <a:buSzPct val="145000"/>
                  <a:buFont typeface="Arial"/>
                  <a:buChar char="•"/>
                  <a:defRPr sz="1400" kern="1200" cap="none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>
                      <a:lumMod val="75000"/>
                    </a:schemeClr>
                  </a:buClr>
                  <a:buSzPct val="145000"/>
                  <a:buFont typeface="Arial"/>
                  <a:buChar char="•"/>
                  <a:defRPr sz="1400" kern="1200" cap="none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>
                      <a:lumMod val="75000"/>
                    </a:schemeClr>
                  </a:buClr>
                  <a:buSzPct val="145000"/>
                  <a:buFont typeface="Arial"/>
                  <a:buChar char="•"/>
                  <a:defRPr sz="1400" kern="1200" cap="none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>
                      <a:lumMod val="75000"/>
                    </a:schemeClr>
                  </a:buClr>
                  <a:buSzPct val="145000"/>
                  <a:buFont typeface="Arial"/>
                  <a:buChar char="•"/>
                  <a:defRPr sz="1400" kern="1200" cap="none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>
                      <a:lumMod val="75000"/>
                    </a:schemeClr>
                  </a:buClr>
                  <a:buSzPct val="145000"/>
                  <a:buFont typeface="Arial"/>
                  <a:buChar char="•"/>
                  <a:defRPr sz="1400" kern="1200" cap="none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u="sng" dirty="0">
                    <a:latin typeface="Helvetica" charset="0"/>
                  </a:rPr>
                  <a:t>The AR(1) process: </a:t>
                </a:r>
                <a:r>
                  <a:rPr lang="en-US" dirty="0">
                    <a:latin typeface="Helvetica" charset="0"/>
                  </a:rPr>
                  <a:t>We have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charset="0"/>
                          </a:rPr>
                          <m:t>𝑋</m:t>
                        </m:r>
                      </m:e>
                      <m:sub>
                        <m:r>
                          <a:rPr lang="en-US" i="1">
                            <a:latin typeface="Cambria Math" charset="0"/>
                          </a:rPr>
                          <m:t>𝑡</m:t>
                        </m:r>
                      </m:sub>
                    </m:sSub>
                    <m:d>
                      <m:dPr>
                        <m:ctrlPr>
                          <a:rPr lang="is-I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charset="0"/>
                          </a:rPr>
                          <m:t>1−</m:t>
                        </m:r>
                        <m:r>
                          <a:rPr lang="en-US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𝜙</m:t>
                        </m:r>
                        <m:r>
                          <a:rPr lang="en-US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𝐵</m:t>
                        </m:r>
                      </m:e>
                    </m:d>
                    <m:r>
                      <a:rPr lang="en-US" i="1">
                        <a:latin typeface="Cambria Math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charset="0"/>
                          </a:rPr>
                          <m:t>𝑍</m:t>
                        </m:r>
                      </m:e>
                      <m:sub>
                        <m:r>
                          <a:rPr lang="en-US" i="1">
                            <a:latin typeface="Cambria Math" charset="0"/>
                          </a:rPr>
                          <m:t>𝑡</m:t>
                        </m:r>
                      </m:sub>
                    </m:sSub>
                  </m:oMath>
                </a14:m>
                <a:endParaRPr lang="en-US" dirty="0">
                  <a:latin typeface="Helvetica" charset="0"/>
                </a:endParaRPr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 charset="0"/>
                      </a:rPr>
                      <m:t>                                                                                                               </m:t>
                    </m:r>
                  </m:oMath>
                </a14:m>
                <a:endParaRPr lang="en-US" dirty="0">
                  <a:latin typeface="Helvetica" charset="0"/>
                </a:endParaRPr>
              </a:p>
              <a:p>
                <a:r>
                  <a:rPr lang="en-US" dirty="0">
                    <a:latin typeface="Helvetica" charset="0"/>
                  </a:rPr>
                  <a:t>Thus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charset="0"/>
                        <a:ea typeface="Cambria Math" charset="0"/>
                        <a:cs typeface="Cambria Math" charset="0"/>
                      </a:rPr>
                      <m:t>𝜙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𝑧</m:t>
                        </m:r>
                      </m:e>
                    </m:d>
                    <m:r>
                      <a:rPr lang="en-US" i="1">
                        <a:latin typeface="Cambria Math" charset="0"/>
                        <a:ea typeface="Cambria Math" charset="0"/>
                        <a:cs typeface="Cambria Math" charset="0"/>
                      </a:rPr>
                      <m:t>=1−</m:t>
                    </m:r>
                    <m:r>
                      <a:rPr lang="en-US" i="1">
                        <a:latin typeface="Cambria Math" charset="0"/>
                        <a:ea typeface="Cambria Math" charset="0"/>
                        <a:cs typeface="Cambria Math" charset="0"/>
                      </a:rPr>
                      <m:t>𝜙</m:t>
                    </m:r>
                    <m:r>
                      <a:rPr lang="en-US" i="1">
                        <a:latin typeface="Cambria Math" charset="0"/>
                        <a:ea typeface="Cambria Math" charset="0"/>
                        <a:cs typeface="Cambria Math" charset="0"/>
                      </a:rPr>
                      <m:t>𝑧</m:t>
                    </m:r>
                  </m:oMath>
                </a14:m>
                <a:r>
                  <a:rPr lang="en-US" dirty="0">
                    <a:latin typeface="Helvetica" charset="0"/>
                  </a:rPr>
                  <a:t>. This has only one zero at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charset="0"/>
                      </a:rPr>
                      <m:t>𝑧</m:t>
                    </m:r>
                    <m:r>
                      <a:rPr lang="en-US" i="1">
                        <a:latin typeface="Cambria Math" charset="0"/>
                      </a:rPr>
                      <m:t>=1/</m:t>
                    </m:r>
                    <m:r>
                      <a:rPr lang="en-US" i="1">
                        <a:latin typeface="Cambria Math" charset="0"/>
                        <a:ea typeface="Cambria Math" charset="0"/>
                        <a:cs typeface="Cambria Math" charset="0"/>
                      </a:rPr>
                      <m:t>𝜙</m:t>
                    </m:r>
                  </m:oMath>
                </a14:m>
                <a:r>
                  <a:rPr lang="en-US" dirty="0">
                    <a:latin typeface="Helvetica" charset="0"/>
                  </a:rPr>
                  <a:t>. A unique stationary solution to exists if and only if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hr-H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charset="0"/>
                          </a:rPr>
                          <m:t>1/</m:t>
                        </m:r>
                        <m:r>
                          <a:rPr lang="en-US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𝜙</m:t>
                        </m:r>
                      </m:e>
                    </m:d>
                    <m:r>
                      <a:rPr lang="hr-HR" i="1">
                        <a:latin typeface="Cambria Math" charset="0"/>
                        <a:ea typeface="Cambria Math" charset="0"/>
                        <a:cs typeface="Cambria Math" charset="0"/>
                      </a:rPr>
                      <m:t>≠</m:t>
                    </m:r>
                    <m:r>
                      <a:rPr lang="en-US" i="1">
                        <a:latin typeface="Cambria Math" charset="0"/>
                        <a:ea typeface="Cambria Math" charset="0"/>
                        <a:cs typeface="Cambria Math" charset="0"/>
                      </a:rPr>
                      <m:t>1</m:t>
                    </m:r>
                  </m:oMath>
                </a14:m>
                <a:r>
                  <a:rPr lang="en-US" dirty="0">
                    <a:latin typeface="Helvetica" charset="0"/>
                  </a:rPr>
                  <a:t>, or</a:t>
                </a:r>
                <a:r>
                  <a:rPr lang="hr-HR" dirty="0"/>
                  <a:t> </a:t>
                </a:r>
              </a:p>
              <a:p>
                <a:endParaRPr lang="hr-HR" i="1" dirty="0">
                  <a:latin typeface="Cambria Math" charset="0"/>
                </a:endParaRPr>
              </a:p>
              <a:p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hr-H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𝜙</m:t>
                        </m:r>
                      </m:e>
                    </m:d>
                    <m:r>
                      <a:rPr lang="hr-HR" i="1">
                        <a:latin typeface="Cambria Math" charset="0"/>
                        <a:ea typeface="Cambria Math" charset="0"/>
                        <a:cs typeface="Cambria Math" charset="0"/>
                      </a:rPr>
                      <m:t>≠</m:t>
                    </m:r>
                    <m:r>
                      <a:rPr lang="en-US" i="1">
                        <a:latin typeface="Cambria Math" charset="0"/>
                        <a:ea typeface="Cambria Math" charset="0"/>
                        <a:cs typeface="Cambria Math" charset="0"/>
                      </a:rPr>
                      <m:t>1.</m:t>
                    </m:r>
                  </m:oMath>
                </a14:m>
                <a:endParaRPr lang="en-US" dirty="0">
                  <a:latin typeface="Helvetica" charset="0"/>
                </a:endParaRPr>
              </a:p>
              <a:p>
                <a:endParaRPr lang="en-US" dirty="0">
                  <a:latin typeface="Helvetica" charset="0"/>
                </a:endParaRPr>
              </a:p>
              <a:p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i="1">
                                <a:latin typeface="Cambria Math" charset="0"/>
                              </a:rPr>
                              <m:t>𝑡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>
                    <a:latin typeface="Helvetica" charset="0"/>
                  </a:rPr>
                  <a:t> is causal if and only if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hr-H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charset="0"/>
                          </a:rPr>
                          <m:t>1/</m:t>
                        </m:r>
                        <m:r>
                          <a:rPr lang="en-US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𝜙</m:t>
                        </m:r>
                      </m:e>
                    </m:d>
                    <m:r>
                      <a:rPr lang="en-US" i="1">
                        <a:latin typeface="Cambria Math" charset="0"/>
                        <a:ea typeface="Cambria Math" charset="0"/>
                        <a:cs typeface="Cambria Math" charset="0"/>
                      </a:rPr>
                      <m:t>&gt;1</m:t>
                    </m:r>
                  </m:oMath>
                </a14:m>
                <a:r>
                  <a:rPr lang="en-US" dirty="0">
                    <a:latin typeface="Helvetica" charset="0"/>
                  </a:rPr>
                  <a:t>, or </a:t>
                </a:r>
              </a:p>
              <a:p>
                <a:endParaRPr lang="en-US" dirty="0">
                  <a:latin typeface="Helvetica" charset="0"/>
                </a:endParaRPr>
              </a:p>
              <a:p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hr-H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𝜙</m:t>
                        </m:r>
                      </m:e>
                    </m:d>
                    <m:r>
                      <a:rPr lang="en-US" i="1">
                        <a:latin typeface="Cambria Math" charset="0"/>
                        <a:ea typeface="Cambria Math" charset="0"/>
                        <a:cs typeface="Cambria Math" charset="0"/>
                      </a:rPr>
                      <m:t>&lt;1.</m:t>
                    </m:r>
                  </m:oMath>
                </a14:m>
                <a:endParaRPr lang="en-US" dirty="0">
                  <a:latin typeface="Helvetica" charset="0"/>
                </a:endParaRPr>
              </a:p>
            </p:txBody>
          </p:sp>
        </mc:Choice>
        <mc:Fallback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304D0040-59E1-4874-A0A9-5AE3D8950D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91337" y="1252089"/>
                <a:ext cx="10283828" cy="4111025"/>
              </a:xfrm>
              <a:prstGeom prst="rect">
                <a:avLst/>
              </a:prstGeom>
              <a:blipFill>
                <a:blip r:embed="rId2"/>
                <a:stretch>
                  <a:fillRect l="-1126" t="-2963" b="-3407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600371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7B31C95A-9479-49E5-9DC0-4B54D916D0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8F3A4-F597-494F-8F9B-1014E0A0E60E}" type="datetime1">
              <a:rPr lang="en-US" smtClean="0"/>
              <a:t>3/14/2019</a:t>
            </a:fld>
            <a:endParaRPr lang="en-US" dirty="0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77CBBE6A-DE21-418D-A88B-2B31C3AD1B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Aymen Ben Brik</a:t>
            </a:r>
            <a:endParaRPr lang="en-US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5C06B48-7342-4036-9FF4-BE543D1CFC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D73A1345-C19F-40C5-97F3-C1FBFF1E9A5A}"/>
              </a:ext>
            </a:extLst>
          </p:cNvPr>
          <p:cNvSpPr txBox="1">
            <a:spLocks/>
          </p:cNvSpPr>
          <p:nvPr/>
        </p:nvSpPr>
        <p:spPr>
          <a:xfrm>
            <a:off x="1588349" y="168661"/>
            <a:ext cx="9914673" cy="616276"/>
          </a:xfrm>
          <a:prstGeom prst="rect">
            <a:avLst/>
          </a:prstGeom>
        </p:spPr>
        <p:txBody>
          <a:bodyPr/>
          <a:lstStyle>
            <a:lvl1pPr algn="ctr" defTabSz="457200" rtl="0" eaLnBrk="1" latinLnBrk="0" hangingPunct="1">
              <a:spcBef>
                <a:spcPct val="0"/>
              </a:spcBef>
              <a:buNone/>
              <a:defRPr sz="4000" kern="1200" cap="none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l"/>
            <a:r>
              <a:rPr lang="en-US" sz="3600"/>
              <a:t>Invertible Process</a:t>
            </a:r>
            <a:endParaRPr lang="en-US" sz="36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364FAD7C-377F-4759-B6E6-FEF2BE1A7D2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588349" y="1053092"/>
                <a:ext cx="9914673" cy="5294699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marL="285750" indent="-28575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>
                      <a:lumMod val="75000"/>
                    </a:schemeClr>
                  </a:buClr>
                  <a:buSzPct val="145000"/>
                  <a:buFont typeface="Arial"/>
                  <a:buChar char="•"/>
                  <a:defRPr sz="2400" kern="1200" cap="none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742950" indent="-28575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>
                      <a:lumMod val="75000"/>
                    </a:schemeClr>
                  </a:buClr>
                  <a:buSzPct val="145000"/>
                  <a:buFont typeface="Arial"/>
                  <a:buChar char="•"/>
                  <a:defRPr sz="2000" kern="1200" cap="none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2pPr>
                <a:lvl3pPr marL="1200150" indent="-28575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>
                      <a:lumMod val="75000"/>
                    </a:schemeClr>
                  </a:buClr>
                  <a:buSzPct val="145000"/>
                  <a:buFont typeface="Arial"/>
                  <a:buChar char="•"/>
                  <a:defRPr sz="1800" kern="1200" cap="none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3pPr>
                <a:lvl4pPr marL="1543050" indent="-17145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>
                      <a:lumMod val="75000"/>
                    </a:schemeClr>
                  </a:buClr>
                  <a:buSzPct val="145000"/>
                  <a:buFont typeface="Arial"/>
                  <a:buChar char="•"/>
                  <a:defRPr sz="1600" kern="1200" cap="none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4pPr>
                <a:lvl5pPr marL="2000250" indent="-17145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>
                      <a:lumMod val="75000"/>
                    </a:schemeClr>
                  </a:buClr>
                  <a:buSzPct val="145000"/>
                  <a:buFont typeface="Arial"/>
                  <a:buChar char="•"/>
                  <a:defRPr sz="1400" kern="1200" cap="none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>
                      <a:lumMod val="75000"/>
                    </a:schemeClr>
                  </a:buClr>
                  <a:buSzPct val="145000"/>
                  <a:buFont typeface="Arial"/>
                  <a:buChar char="•"/>
                  <a:defRPr sz="1400" kern="1200" cap="none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>
                      <a:lumMod val="75000"/>
                    </a:schemeClr>
                  </a:buClr>
                  <a:buSzPct val="145000"/>
                  <a:buFont typeface="Arial"/>
                  <a:buChar char="•"/>
                  <a:defRPr sz="1400" kern="1200" cap="none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>
                      <a:lumMod val="75000"/>
                    </a:schemeClr>
                  </a:buClr>
                  <a:buSzPct val="145000"/>
                  <a:buFont typeface="Arial"/>
                  <a:buChar char="•"/>
                  <a:defRPr sz="1400" kern="1200" cap="none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>
                      <a:lumMod val="75000"/>
                    </a:schemeClr>
                  </a:buClr>
                  <a:buSzPct val="145000"/>
                  <a:buFont typeface="Arial"/>
                  <a:buChar char="•"/>
                  <a:defRPr sz="1400" kern="1200" cap="none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dirty="0">
                    <a:latin typeface="Helvetica" charset="0"/>
                  </a:rPr>
                  <a:t>An ARMA process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i="1">
                                <a:latin typeface="Cambria Math" charset="0"/>
                              </a:rPr>
                              <m:t>𝑡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>
                    <a:latin typeface="Helvetica" charset="0"/>
                  </a:rPr>
                  <a:t> is </a:t>
                </a:r>
                <a:r>
                  <a:rPr lang="en-US" i="1" dirty="0">
                    <a:latin typeface="Helvetica" charset="0"/>
                  </a:rPr>
                  <a:t>invertible</a:t>
                </a:r>
                <a:r>
                  <a:rPr lang="en-US" dirty="0">
                    <a:latin typeface="Helvetica" charset="0"/>
                  </a:rPr>
                  <a:t> if there exist constants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charset="0"/>
                                <a:ea typeface="Cambria Math" charset="0"/>
                                <a:cs typeface="Cambria Math" charset="0"/>
                              </a:rPr>
                              <m:t>𝜋</m:t>
                            </m:r>
                          </m:e>
                          <m:sub>
                            <m:r>
                              <a:rPr lang="en-US" i="1">
                                <a:latin typeface="Cambria Math" charset="0"/>
                              </a:rPr>
                              <m:t>𝑗</m:t>
                            </m:r>
                          </m:sub>
                        </m:sSub>
                      </m:e>
                    </m:d>
                    <m:r>
                      <a:rPr lang="en-US">
                        <a:latin typeface="Cambria Math" charset="0"/>
                      </a:rPr>
                      <m:t> </m:t>
                    </m:r>
                  </m:oMath>
                </a14:m>
                <a:r>
                  <a:rPr lang="en-US" dirty="0">
                    <a:latin typeface="Helvetica" charset="0"/>
                  </a:rPr>
                  <a:t>such that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subSup"/>
                        <m:ctrlPr>
                          <a:rPr lang="is-I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US" i="1">
                            <a:latin typeface="Cambria Math" charset="0"/>
                          </a:rPr>
                          <m:t>𝑗</m:t>
                        </m:r>
                        <m:r>
                          <a:rPr lang="en-US" i="1">
                            <a:latin typeface="Cambria Math" charset="0"/>
                          </a:rPr>
                          <m:t>=0</m:t>
                        </m:r>
                      </m:sub>
                      <m:sup>
                        <m:r>
                          <a:rPr lang="is-IS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∞</m:t>
                        </m:r>
                      </m:sup>
                      <m:e>
                        <m:d>
                          <m:dPr>
                            <m:begChr m:val="|"/>
                            <m:endChr m:val="|"/>
                            <m:ctrlPr>
                              <a:rPr lang="hr-H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charset="0"/>
                                    <a:ea typeface="Cambria Math" charset="0"/>
                                    <a:cs typeface="Cambria Math" charset="0"/>
                                  </a:rPr>
                                  <m:t>𝜋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charset="0"/>
                                  </a:rPr>
                                  <m:t>𝑗</m:t>
                                </m:r>
                              </m:sub>
                            </m:sSub>
                          </m:e>
                        </m:d>
                        <m:r>
                          <a:rPr lang="hr-HR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&lt;∞</m:t>
                        </m:r>
                      </m:e>
                    </m:nary>
                  </m:oMath>
                </a14:m>
                <a:r>
                  <a:rPr lang="en-US" dirty="0">
                    <a:latin typeface="Helvetica" charset="0"/>
                  </a:rPr>
                  <a:t> and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charset="0"/>
                          </a:rPr>
                          <m:t>𝑍</m:t>
                        </m:r>
                      </m:e>
                      <m:sub>
                        <m:r>
                          <a:rPr lang="en-US" i="1">
                            <a:latin typeface="Cambria Math" charset="0"/>
                          </a:rPr>
                          <m:t>𝑡</m:t>
                        </m:r>
                      </m:sub>
                    </m:sSub>
                    <m:r>
                      <a:rPr lang="en-US" i="1">
                        <a:latin typeface="Cambria Math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is-I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i="1">
                            <a:latin typeface="Cambria Math" charset="0"/>
                          </a:rPr>
                          <m:t>𝑗</m:t>
                        </m:r>
                        <m:r>
                          <a:rPr lang="en-US" i="1">
                            <a:latin typeface="Cambria Math" charset="0"/>
                          </a:rPr>
                          <m:t>=0</m:t>
                        </m:r>
                      </m:sub>
                      <m:sup>
                        <m:r>
                          <a:rPr lang="is-IS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∞</m:t>
                        </m:r>
                      </m:sup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charset="0"/>
                                <a:ea typeface="Cambria Math" charset="0"/>
                                <a:cs typeface="Cambria Math" charset="0"/>
                              </a:rPr>
                              <m:t>𝜋</m:t>
                            </m:r>
                          </m:e>
                          <m:sub>
                            <m:r>
                              <a:rPr lang="en-US" i="1">
                                <a:latin typeface="Cambria Math" charset="0"/>
                              </a:rPr>
                              <m:t>𝑗</m:t>
                            </m:r>
                          </m:sub>
                        </m:sSub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i="1">
                                <a:latin typeface="Cambria Math" charset="0"/>
                              </a:rPr>
                              <m:t>𝑡</m:t>
                            </m:r>
                            <m:r>
                              <a:rPr lang="en-US" i="1">
                                <a:latin typeface="Cambria Math" charset="0"/>
                              </a:rPr>
                              <m:t>−</m:t>
                            </m:r>
                            <m:r>
                              <a:rPr lang="en-US" i="1">
                                <a:latin typeface="Cambria Math" charset="0"/>
                              </a:rPr>
                              <m:t>𝑗</m:t>
                            </m:r>
                          </m:sub>
                        </m:sSub>
                      </m:e>
                    </m:nary>
                    <m:r>
                      <a:rPr lang="en-US" i="1">
                        <a:latin typeface="Cambria Math" charset="0"/>
                      </a:rPr>
                      <m:t>   </m:t>
                    </m:r>
                    <m:r>
                      <m:rPr>
                        <m:nor/>
                      </m:rPr>
                      <a:rPr lang="en-US">
                        <a:latin typeface="Cambria Math" charset="0"/>
                      </a:rPr>
                      <m:t>for</m:t>
                    </m:r>
                    <m:r>
                      <m:rPr>
                        <m:nor/>
                      </m:rPr>
                      <a:rPr lang="en-US">
                        <a:latin typeface="Cambria Math" charset="0"/>
                      </a:rPr>
                      <m:t> </m:t>
                    </m:r>
                    <m:r>
                      <m:rPr>
                        <m:nor/>
                      </m:rPr>
                      <a:rPr lang="en-US">
                        <a:latin typeface="Cambria Math" charset="0"/>
                      </a:rPr>
                      <m:t>all</m:t>
                    </m:r>
                    <m:r>
                      <a:rPr lang="en-US" i="1">
                        <a:latin typeface="Cambria Math" charset="0"/>
                      </a:rPr>
                      <m:t>   </m:t>
                    </m:r>
                    <m:r>
                      <a:rPr lang="en-US" i="1">
                        <a:latin typeface="Cambria Math" charset="0"/>
                      </a:rPr>
                      <m:t>𝑡</m:t>
                    </m:r>
                    <m:r>
                      <a:rPr lang="en-US" i="1">
                        <a:latin typeface="Cambria Math" charset="0"/>
                        <a:ea typeface="Cambria Math" charset="0"/>
                        <a:cs typeface="Cambria Math" charset="0"/>
                      </a:rPr>
                      <m:t>∈</m:t>
                    </m:r>
                    <m:r>
                      <a:rPr lang="en-US" i="1">
                        <a:latin typeface="Cambria Math" charset="0"/>
                        <a:ea typeface="Cambria Math" charset="0"/>
                        <a:cs typeface="Cambria Math" charset="0"/>
                      </a:rPr>
                      <m:t>ℤ</m:t>
                    </m:r>
                    <m:r>
                      <a:rPr lang="en-US" i="1">
                        <a:latin typeface="Cambria Math" charset="0"/>
                        <a:ea typeface="Cambria Math" charset="0"/>
                        <a:cs typeface="Cambria Math" charset="0"/>
                      </a:rPr>
                      <m:t>.                                                                                </m:t>
                    </m:r>
                  </m:oMath>
                </a14:m>
                <a:endParaRPr lang="en-US" i="1" dirty="0">
                  <a:latin typeface="Helvetica" charset="0"/>
                  <a:ea typeface="Cambria Math" charset="0"/>
                  <a:cs typeface="Cambria Math" charset="0"/>
                </a:endParaRPr>
              </a:p>
              <a:p>
                <a:r>
                  <a:rPr lang="en-US" i="1" dirty="0">
                    <a:latin typeface="Helvetica" charset="0"/>
                  </a:rPr>
                  <a:t>Suppose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i="1">
                                <a:latin typeface="Cambria Math" charset="0"/>
                              </a:rPr>
                              <m:t>𝑡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i="1" dirty="0">
                    <a:latin typeface="Helvetica" charset="0"/>
                  </a:rPr>
                  <a:t> is an ARMA process for which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charset="0"/>
                        <a:ea typeface="Cambria Math" charset="0"/>
                        <a:cs typeface="Cambria Math" charset="0"/>
                      </a:rPr>
                      <m:t>𝜙</m:t>
                    </m:r>
                    <m:d>
                      <m:dPr>
                        <m:ctrlPr>
                          <a:rPr lang="is-IS" i="1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</m:ctrlPr>
                      </m:dPr>
                      <m:e>
                        <m:r>
                          <a:rPr lang="is-IS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∙</m:t>
                        </m:r>
                      </m:e>
                    </m:d>
                  </m:oMath>
                </a14:m>
                <a:r>
                  <a:rPr lang="en-US" i="1" dirty="0">
                    <a:latin typeface="Helvetica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charset="0"/>
                        <a:ea typeface="Cambria Math" charset="0"/>
                        <a:cs typeface="Cambria Math" charset="0"/>
                      </a:rPr>
                      <m:t>𝜃</m:t>
                    </m:r>
                    <m:d>
                      <m:dPr>
                        <m:ctrlPr>
                          <a:rPr lang="is-IS" i="1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</m:ctrlPr>
                      </m:dPr>
                      <m:e>
                        <m:r>
                          <a:rPr lang="is-IS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∙</m:t>
                        </m:r>
                      </m:e>
                    </m:d>
                  </m:oMath>
                </a14:m>
                <a:r>
                  <a:rPr lang="en-US" i="1" dirty="0">
                    <a:latin typeface="Helvetica" charset="0"/>
                  </a:rPr>
                  <a:t> have no common zeroes. Then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i="1">
                                <a:latin typeface="Cambria Math" charset="0"/>
                              </a:rPr>
                              <m:t>𝑡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i="1" dirty="0">
                    <a:latin typeface="Helvetica" charset="0"/>
                  </a:rPr>
                  <a:t> is invertible if and only if</a:t>
                </a:r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 charset="0"/>
                        <a:ea typeface="Cambria Math" charset="0"/>
                        <a:cs typeface="Cambria Math" charset="0"/>
                      </a:rPr>
                      <m:t>𝜃</m:t>
                    </m:r>
                    <m:d>
                      <m:dPr>
                        <m:ctrlPr>
                          <a:rPr lang="is-IS" i="1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𝑧</m:t>
                        </m:r>
                      </m:e>
                    </m:d>
                    <m:r>
                      <a:rPr lang="is-IS" i="1">
                        <a:latin typeface="Cambria Math" charset="0"/>
                        <a:ea typeface="Cambria Math" charset="0"/>
                        <a:cs typeface="Cambria Math" charset="0"/>
                      </a:rPr>
                      <m:t>≠</m:t>
                    </m:r>
                    <m:r>
                      <a:rPr lang="en-US" i="1">
                        <a:latin typeface="Cambria Math" charset="0"/>
                        <a:ea typeface="Cambria Math" charset="0"/>
                        <a:cs typeface="Cambria Math" charset="0"/>
                      </a:rPr>
                      <m:t>0   </m:t>
                    </m:r>
                    <m:r>
                      <m:rPr>
                        <m:nor/>
                      </m:rPr>
                      <a:rPr lang="en-US" i="1">
                        <a:latin typeface="Cambria Math" charset="0"/>
                        <a:ea typeface="Cambria Math" charset="0"/>
                        <a:cs typeface="Cambria Math" charset="0"/>
                      </a:rPr>
                      <m:t>for</m:t>
                    </m:r>
                    <m:r>
                      <m:rPr>
                        <m:nor/>
                      </m:rPr>
                      <a:rPr lang="en-US" i="1">
                        <a:latin typeface="Cambria Math" charset="0"/>
                        <a:ea typeface="Cambria Math" charset="0"/>
                        <a:cs typeface="Cambria Math" charset="0"/>
                      </a:rPr>
                      <m:t> </m:t>
                    </m:r>
                    <m:r>
                      <m:rPr>
                        <m:nor/>
                      </m:rPr>
                      <a:rPr lang="en-US" i="1">
                        <a:latin typeface="Cambria Math" charset="0"/>
                        <a:ea typeface="Cambria Math" charset="0"/>
                        <a:cs typeface="Cambria Math" charset="0"/>
                      </a:rPr>
                      <m:t>all</m:t>
                    </m:r>
                    <m:r>
                      <a:rPr lang="en-US" i="1">
                        <a:latin typeface="Cambria Math" charset="0"/>
                        <a:ea typeface="Cambria Math" charset="0"/>
                        <a:cs typeface="Cambria Math" charset="0"/>
                      </a:rPr>
                      <m:t>   </m:t>
                    </m:r>
                    <m:r>
                      <a:rPr lang="en-US" i="1">
                        <a:latin typeface="Cambria Math" charset="0"/>
                        <a:ea typeface="Cambria Math" charset="0"/>
                        <a:cs typeface="Cambria Math" charset="0"/>
                      </a:rPr>
                      <m:t>𝑧</m:t>
                    </m:r>
                    <m:r>
                      <a:rPr lang="en-US" i="1">
                        <a:latin typeface="Cambria Math" charset="0"/>
                        <a:ea typeface="Cambria Math" charset="0"/>
                        <a:cs typeface="Cambria Math" charset="0"/>
                      </a:rPr>
                      <m:t>∈</m:t>
                    </m:r>
                    <m:r>
                      <a:rPr lang="en-US" i="1">
                        <a:latin typeface="Cambria Math" charset="0"/>
                        <a:ea typeface="Cambria Math" charset="0"/>
                        <a:cs typeface="Cambria Math" charset="0"/>
                      </a:rPr>
                      <m:t>ℂ</m:t>
                    </m:r>
                    <m:r>
                      <a:rPr lang="en-US" i="1">
                        <a:latin typeface="Cambria Math" charset="0"/>
                        <a:ea typeface="Cambria Math" charset="0"/>
                        <a:cs typeface="Cambria Math" charset="0"/>
                      </a:rPr>
                      <m:t>   </m:t>
                    </m:r>
                    <m:r>
                      <m:rPr>
                        <m:nor/>
                      </m:rPr>
                      <a:rPr lang="en-US" i="1">
                        <a:latin typeface="Cambria Math" charset="0"/>
                        <a:ea typeface="Cambria Math" charset="0"/>
                        <a:cs typeface="Cambria Math" charset="0"/>
                      </a:rPr>
                      <m:t>such</m:t>
                    </m:r>
                    <m:r>
                      <m:rPr>
                        <m:nor/>
                      </m:rPr>
                      <a:rPr lang="en-US" i="1">
                        <a:latin typeface="Cambria Math" charset="0"/>
                        <a:ea typeface="Cambria Math" charset="0"/>
                        <a:cs typeface="Cambria Math" charset="0"/>
                      </a:rPr>
                      <m:t> </m:t>
                    </m:r>
                    <m:r>
                      <m:rPr>
                        <m:nor/>
                      </m:rPr>
                      <a:rPr lang="en-US" i="1">
                        <a:latin typeface="Cambria Math" charset="0"/>
                        <a:ea typeface="Cambria Math" charset="0"/>
                        <a:cs typeface="Cambria Math" charset="0"/>
                      </a:rPr>
                      <m:t>that</m:t>
                    </m:r>
                    <m:r>
                      <a:rPr lang="en-US" i="1">
                        <a:latin typeface="Cambria Math" charset="0"/>
                        <a:ea typeface="Cambria Math" charset="0"/>
                        <a:cs typeface="Cambria Math" charset="0"/>
                      </a:rPr>
                      <m:t>   </m:t>
                    </m:r>
                    <m:d>
                      <m:dPr>
                        <m:begChr m:val="|"/>
                        <m:endChr m:val="|"/>
                        <m:ctrlPr>
                          <a:rPr lang="hr-HR" i="1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𝑧</m:t>
                        </m:r>
                      </m:e>
                    </m:d>
                    <m:r>
                      <a:rPr lang="hr-HR" i="1">
                        <a:latin typeface="Cambria Math" charset="0"/>
                        <a:ea typeface="Cambria Math" charset="0"/>
                        <a:cs typeface="Cambria Math" charset="0"/>
                      </a:rPr>
                      <m:t>≤</m:t>
                    </m:r>
                    <m:r>
                      <a:rPr lang="en-US" i="1">
                        <a:latin typeface="Cambria Math" charset="0"/>
                        <a:ea typeface="Cambria Math" charset="0"/>
                        <a:cs typeface="Cambria Math" charset="0"/>
                      </a:rPr>
                      <m:t>1.               </m:t>
                    </m:r>
                  </m:oMath>
                </a14:m>
                <a:endParaRPr lang="en-US" i="1" dirty="0">
                  <a:latin typeface="Helvetica" charset="0"/>
                </a:endParaRPr>
              </a:p>
              <a:p>
                <a:r>
                  <a:rPr lang="en-US" i="1" dirty="0">
                    <a:latin typeface="Helvetica" charset="0"/>
                  </a:rPr>
                  <a:t>The coefficients for an invertible process are given by</a:t>
                </a:r>
                <a:endParaRPr lang="en-US" dirty="0">
                  <a:latin typeface="Helvetica" charset="0"/>
                </a:endParaRPr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 charset="0"/>
                        <a:ea typeface="Cambria Math" charset="0"/>
                        <a:cs typeface="Cambria Math" charset="0"/>
                      </a:rPr>
                      <m:t>𝜋</m:t>
                    </m:r>
                    <m:d>
                      <m:dPr>
                        <m:ctrlPr>
                          <a:rPr lang="is-IS" i="1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𝑧</m:t>
                        </m:r>
                      </m:e>
                    </m:d>
                    <m:r>
                      <a:rPr lang="en-US" i="1">
                        <a:latin typeface="Cambria Math" charset="0"/>
                        <a:ea typeface="Cambria Math" charset="0"/>
                        <a:cs typeface="Cambria Math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is-IS" i="1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𝑗</m:t>
                        </m:r>
                        <m:r>
                          <a:rPr lang="en-US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=0</m:t>
                        </m:r>
                      </m:sub>
                      <m:sup>
                        <m:r>
                          <a:rPr lang="is-IS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∞</m:t>
                        </m:r>
                      </m:sup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charset="0"/>
                                <a:cs typeface="Cambria Math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charset="0"/>
                                <a:ea typeface="Cambria Math" charset="0"/>
                                <a:cs typeface="Cambria Math" charset="0"/>
                              </a:rPr>
                              <m:t>𝜋</m:t>
                            </m:r>
                          </m:e>
                          <m:sub>
                            <m:r>
                              <a:rPr lang="en-US" i="1">
                                <a:latin typeface="Cambria Math" charset="0"/>
                                <a:ea typeface="Cambria Math" charset="0"/>
                                <a:cs typeface="Cambria Math" charset="0"/>
                              </a:rPr>
                              <m:t>𝑗</m:t>
                            </m:r>
                          </m:sub>
                        </m:sSub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charset="0"/>
                                <a:cs typeface="Cambria Math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charset="0"/>
                                <a:ea typeface="Cambria Math" charset="0"/>
                                <a:cs typeface="Cambria Math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US" i="1">
                                <a:latin typeface="Cambria Math" charset="0"/>
                                <a:ea typeface="Cambria Math" charset="0"/>
                                <a:cs typeface="Cambria Math" charset="0"/>
                              </a:rPr>
                              <m:t>𝑗</m:t>
                            </m:r>
                          </m:sup>
                        </m:sSup>
                        <m:r>
                          <a:rPr lang="en-US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=</m:t>
                        </m:r>
                      </m:e>
                    </m:nary>
                    <m:f>
                      <m:fPr>
                        <m:ctrlPr>
                          <a:rPr lang="bg-BG" i="1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</m:ctrlPr>
                      </m:fPr>
                      <m:num>
                        <m:r>
                          <a:rPr lang="bg-BG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𝜙</m:t>
                        </m:r>
                        <m:r>
                          <a:rPr lang="en-US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(</m:t>
                        </m:r>
                        <m:r>
                          <a:rPr lang="en-US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𝑧</m:t>
                        </m:r>
                        <m:r>
                          <a:rPr lang="en-US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)</m:t>
                        </m:r>
                      </m:num>
                      <m:den>
                        <m:r>
                          <a:rPr lang="bg-BG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𝜃</m:t>
                        </m:r>
                        <m:r>
                          <a:rPr lang="en-US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(</m:t>
                        </m:r>
                        <m:r>
                          <a:rPr lang="en-US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𝑧</m:t>
                        </m:r>
                        <m:r>
                          <a:rPr lang="en-US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)</m:t>
                        </m:r>
                      </m:den>
                    </m:f>
                    <m:r>
                      <a:rPr lang="en-US" i="1">
                        <a:latin typeface="Cambria Math" charset="0"/>
                        <a:ea typeface="Cambria Math" charset="0"/>
                        <a:cs typeface="Cambria Math" charset="0"/>
                      </a:rPr>
                      <m:t>,   </m:t>
                    </m:r>
                    <m:d>
                      <m:dPr>
                        <m:begChr m:val="|"/>
                        <m:endChr m:val="|"/>
                        <m:ctrlPr>
                          <a:rPr lang="hr-HR" i="1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𝑧</m:t>
                        </m:r>
                      </m:e>
                    </m:d>
                    <m:r>
                      <a:rPr lang="hr-HR" i="1">
                        <a:latin typeface="Cambria Math" charset="0"/>
                        <a:ea typeface="Cambria Math" charset="0"/>
                        <a:cs typeface="Cambria Math" charset="0"/>
                      </a:rPr>
                      <m:t>≤</m:t>
                    </m:r>
                    <m:r>
                      <a:rPr lang="en-US" i="1">
                        <a:latin typeface="Cambria Math" charset="0"/>
                        <a:ea typeface="Cambria Math" charset="0"/>
                        <a:cs typeface="Cambria Math" charset="0"/>
                      </a:rPr>
                      <m:t>1.</m:t>
                    </m:r>
                  </m:oMath>
                </a14:m>
                <a:endParaRPr lang="en-US" dirty="0">
                  <a:latin typeface="Helvetica" charset="0"/>
                </a:endParaRPr>
              </a:p>
            </p:txBody>
          </p:sp>
        </mc:Choice>
        <mc:Fallback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364FAD7C-377F-4759-B6E6-FEF2BE1A7D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88349" y="1053092"/>
                <a:ext cx="9914673" cy="5294699"/>
              </a:xfrm>
              <a:prstGeom prst="rect">
                <a:avLst/>
              </a:prstGeom>
              <a:blipFill>
                <a:blip r:embed="rId2"/>
                <a:stretch>
                  <a:fillRect l="-1599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1974832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e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EB8F22"/>
      </a:accent1>
      <a:accent2>
        <a:srgbClr val="CD4223"/>
      </a:accent2>
      <a:accent3>
        <a:srgbClr val="A89374"/>
      </a:accent3>
      <a:accent4>
        <a:srgbClr val="83AA67"/>
      </a:accent4>
      <a:accent5>
        <a:srgbClr val="4FA9C1"/>
      </a:accent5>
      <a:accent6>
        <a:srgbClr val="9390AF"/>
      </a:accent6>
      <a:hlink>
        <a:srgbClr val="EC7220"/>
      </a:hlink>
      <a:folHlink>
        <a:srgbClr val="F09355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EBEC8F79-A447-43FC-8E81-85E8468AF3F9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TM03457496[[fn=Parallaxe]]</Template>
  <TotalTime>225</TotalTime>
  <Words>425</Words>
  <Application>Microsoft Office PowerPoint</Application>
  <PresentationFormat>Grand écran</PresentationFormat>
  <Paragraphs>62</Paragraphs>
  <Slides>6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7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14" baseType="lpstr">
      <vt:lpstr>华文楷体</vt:lpstr>
      <vt:lpstr>Arial</vt:lpstr>
      <vt:lpstr>Calibri</vt:lpstr>
      <vt:lpstr>Cambria Math</vt:lpstr>
      <vt:lpstr>Corbel</vt:lpstr>
      <vt:lpstr>Helvetica</vt:lpstr>
      <vt:lpstr>Helvetica Neue</vt:lpstr>
      <vt:lpstr>Parallaxe</vt:lpstr>
      <vt:lpstr>Time Series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Aymen Ben Brik</dc:creator>
  <cp:lastModifiedBy>Aymen Ben Brik</cp:lastModifiedBy>
  <cp:revision>19</cp:revision>
  <dcterms:created xsi:type="dcterms:W3CDTF">2019-02-05T00:43:47Z</dcterms:created>
  <dcterms:modified xsi:type="dcterms:W3CDTF">2019-03-14T08:47:25Z</dcterms:modified>
</cp:coreProperties>
</file>