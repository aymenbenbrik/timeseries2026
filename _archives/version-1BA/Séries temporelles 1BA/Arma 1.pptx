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88" r:id="rId3"/>
    <p:sldId id="289" r:id="rId4"/>
    <p:sldId id="290" r:id="rId5"/>
    <p:sldId id="291" r:id="rId6"/>
    <p:sldId id="29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438B7-D97E-4770-A539-A1B6910BB87B}" type="datetimeFigureOut">
              <a:rPr lang="fr-FR" smtClean="0"/>
              <a:t>14/03/2019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77CA1-D37D-4424-91DA-23C8B0CE67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5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C846B-06C4-4BAA-A7C7-C9A47ED99046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DE557-400C-47E2-98B7-3C5367CF81D7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59D1-2EB7-4747-BBEE-0E040517376D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2045-BF34-4D28-A784-A54665465EB4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796-1F4D-4541-8868-D67B6237F899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22A-429E-4481-BE7C-7C17CE829BC9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1E41-3B41-45A8-97F1-A67DCA1A3A5A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0510-75E0-439D-BAB8-872FD8090895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8BF00-282E-4D07-98D0-0B337E09DEBF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80AB0-CDFA-4C33-A8A8-9FDC3789B85B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BE73-F64F-4EC9-960B-28DC7E5F1986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A72E-A189-4CE8-9E3A-4D9FD2A72A38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E36-5D9F-4685-9A97-4BE23F828D0F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BB0E-281D-466F-BD4E-7205763923F4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FEA2-3CC5-49AB-BFF0-0E6214324B6C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BA41C-E883-4BCD-9F7A-7838A6E7EAA8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F280C0-C126-4C5C-9279-7A640C70F5B4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F693C-D157-40BC-B623-685B033DE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7EDA5A-5055-42B9-986D-439AF9D5E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ARMA MODEL : Basic concept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36536-DC6D-42E2-8090-5BA1B9F8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E747-E93B-457A-B47C-617BEF8FD98A}" type="datetime1">
              <a:rPr lang="en-US" b="1" smtClean="0"/>
              <a:t>3/14/2019</a:t>
            </a:fld>
            <a:endParaRPr lang="en-US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CEE56E-B7A3-4253-A4F0-DF0537EF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Aymen Ben Brik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858CA-A2CD-4A52-9682-3422F6DC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6C05CD2-A457-4FA1-9255-C4D75BC1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B1A8D60-7DEE-4579-ADDD-453F2E94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7CA38E-08F7-4E3E-B0D9-F208469A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3760AE-8856-4874-AF63-79058E022984}"/>
              </a:ext>
            </a:extLst>
          </p:cNvPr>
          <p:cNvSpPr txBox="1">
            <a:spLocks/>
          </p:cNvSpPr>
          <p:nvPr/>
        </p:nvSpPr>
        <p:spPr>
          <a:xfrm>
            <a:off x="305357" y="234922"/>
            <a:ext cx="11197665" cy="99377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/>
              <a:t>Time Series: Definition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C7AF551-0E89-4A80-8B06-3E83658E503D}"/>
                  </a:ext>
                </a:extLst>
              </p:cNvPr>
              <p:cNvSpPr/>
              <p:nvPr/>
            </p:nvSpPr>
            <p:spPr>
              <a:xfrm>
                <a:off x="1352279" y="1041664"/>
                <a:ext cx="1015074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ffectLst/>
                    <a:latin typeface="Helvetica Neue"/>
                  </a:rPr>
                  <a:t>A </a:t>
                </a:r>
                <a:r>
                  <a:rPr lang="en-US" sz="2000" i="1" dirty="0">
                    <a:effectLst/>
                    <a:latin typeface="Helvetica Neue"/>
                  </a:rPr>
                  <a:t>stochastic process </a:t>
                </a:r>
                <a:r>
                  <a:rPr lang="en-US" sz="2000" dirty="0">
                    <a:effectLst/>
                    <a:latin typeface="Helvetica Neue"/>
                  </a:rPr>
                  <a:t>is a collection of random variables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∈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Helvetica Neue"/>
                  </a:rPr>
                  <a:t>, defined on a probability space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s-IS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Ω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𝐹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Helvetica Neue"/>
                  </a:rPr>
                  <a:t>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C7AF551-0E89-4A80-8B06-3E83658E50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279" y="1041664"/>
                <a:ext cx="10150743" cy="707886"/>
              </a:xfrm>
              <a:prstGeom prst="rect">
                <a:avLst/>
              </a:prstGeom>
              <a:blipFill>
                <a:blip r:embed="rId2"/>
                <a:stretch>
                  <a:fillRect l="-661" t="-4310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11BF377-67B2-413A-BCBC-DDE951B98BBA}"/>
                  </a:ext>
                </a:extLst>
              </p:cNvPr>
              <p:cNvSpPr/>
              <p:nvPr/>
            </p:nvSpPr>
            <p:spPr>
              <a:xfrm>
                <a:off x="1352279" y="2091688"/>
                <a:ext cx="10150743" cy="707886"/>
              </a:xfrm>
              <a:prstGeom prst="rect">
                <a:avLst/>
              </a:prstGeom>
              <a:ln w="19050">
                <a:solidFill>
                  <a:srgbClr val="1F497D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ffectLst/>
                    <a:latin typeface="Helvetica Neue"/>
                  </a:rPr>
                  <a:t>A </a:t>
                </a:r>
                <a:r>
                  <a:rPr lang="en-US" sz="2000" i="1" dirty="0">
                    <a:effectLst/>
                    <a:latin typeface="Helvetica Neue"/>
                  </a:rPr>
                  <a:t>time series </a:t>
                </a:r>
                <a:r>
                  <a:rPr lang="en-US" sz="2000" dirty="0">
                    <a:effectLst/>
                    <a:latin typeface="Helvetica Neue"/>
                  </a:rPr>
                  <a:t>is a stochastic process in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effectLst/>
                    <a:latin typeface="Helvetica Neue"/>
                  </a:rPr>
                  <a:t> is a set of time points, usually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𝑇</m:t>
                      </m:r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0, </m:t>
                          </m:r>
                          <m:r>
                            <a:rPr lang="en-US" sz="2000" b="0" i="1" smtClean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±1, ±2, .. .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1, 2, 3, .. .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, </m:t>
                      </m:r>
                      <m:d>
                        <m:dPr>
                          <m:begChr m:val="["/>
                          <m:endChr m:val=""/>
                          <m:ctrlPr>
                            <a:rPr lang="pt-BR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0,</m:t>
                          </m:r>
                          <m:d>
                            <m:dPr>
                              <m:begChr m:val=""/>
                              <m:ctrlPr>
                                <a:rPr lang="de-DE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∞</m:t>
                              </m:r>
                            </m:e>
                          </m:d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effectLst/>
                              <a:latin typeface="Cambria Math" charset="0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effectLst/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is-IS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effectLst/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effectLst/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∞, ∞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effectLst/>
                  <a:latin typeface="Helvetica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11BF377-67B2-413A-BCBC-DDE951B98B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279" y="2091688"/>
                <a:ext cx="10150743" cy="707886"/>
              </a:xfrm>
              <a:prstGeom prst="rect">
                <a:avLst/>
              </a:prstGeom>
              <a:blipFill>
                <a:blip r:embed="rId3"/>
                <a:stretch>
                  <a:fillRect l="-600" t="-25210" b="-105042"/>
                </a:stretch>
              </a:blipFill>
              <a:ln w="19050">
                <a:solidFill>
                  <a:srgbClr val="1F497D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20CFEDC-D1C4-4BA4-9A79-8C10993073FF}"/>
              </a:ext>
            </a:extLst>
          </p:cNvPr>
          <p:cNvSpPr/>
          <p:nvPr/>
        </p:nvSpPr>
        <p:spPr>
          <a:xfrm>
            <a:off x="1352279" y="3597701"/>
            <a:ext cx="1015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effectLst/>
                <a:latin typeface="Helvetica Neue"/>
              </a:rPr>
              <a:t>Note</a:t>
            </a:r>
            <a:r>
              <a:rPr lang="en-US" sz="2000" dirty="0">
                <a:effectLst/>
                <a:latin typeface="Helvetica Neue"/>
              </a:rPr>
              <a:t>: The term “time series” is also used to refer to the realization of such a process (observed time series).</a:t>
            </a:r>
          </a:p>
        </p:txBody>
      </p:sp>
    </p:spTree>
    <p:extLst>
      <p:ext uri="{BB962C8B-B14F-4D97-AF65-F5344CB8AC3E}">
        <p14:creationId xmlns:p14="http://schemas.microsoft.com/office/powerpoint/2010/main" val="312831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D95AA27-C63F-4D8C-8175-E6484B76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DFDD7B-46C2-48A5-982C-12E57514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5DB2B4-EBFF-4113-937F-2638BAAD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A06C88-6112-45AF-836B-99BB2C783AF0}"/>
              </a:ext>
            </a:extLst>
          </p:cNvPr>
          <p:cNvSpPr txBox="1">
            <a:spLocks/>
          </p:cNvSpPr>
          <p:nvPr/>
        </p:nvSpPr>
        <p:spPr>
          <a:xfrm>
            <a:off x="1588349" y="301462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Time Series: Stationarity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811F49B-BBD3-4710-8DDF-8D1369351B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349" y="1159110"/>
                <a:ext cx="9914673" cy="41110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Helvetica" charset="0"/>
                  </a:rPr>
                  <a:t>The </a:t>
                </a:r>
                <a:r>
                  <a:rPr lang="en-US" i="1" dirty="0">
                    <a:latin typeface="Helvetica" charset="0"/>
                  </a:rPr>
                  <a:t>auto-covariance function </a:t>
                </a:r>
                <a:r>
                  <a:rPr lang="en-US" dirty="0">
                    <a:latin typeface="Helvetica" charset="0"/>
                  </a:rPr>
                  <a:t>of a time series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∈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:</a:t>
                </a:r>
              </a:p>
              <a:p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𝑟</m:t>
                        </m:r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is-I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𝛾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Ε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𝛾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  <m:d>
                          <m:dPr>
                            <m:ctrlPr>
                              <a:rPr lang="is-I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Ε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</a:t>
                </a:r>
                <a:r>
                  <a:rPr lang="en-US" i="1" dirty="0">
                    <a:latin typeface="Helvetica" charset="0"/>
                  </a:rPr>
                  <a:t>(weakly) stationary </a:t>
                </a:r>
                <a:r>
                  <a:rPr lang="en-US" dirty="0">
                    <a:latin typeface="Helvetica" charset="0"/>
                  </a:rPr>
                  <a:t>if </a:t>
                </a:r>
              </a:p>
              <a:p>
                <a:endParaRPr lang="en-US" dirty="0">
                  <a:latin typeface="Helvetic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hr-HR" i="1">
                        <a:latin typeface="Cambria Math" charset="0"/>
                        <a:ea typeface="Cambria Math" charset="0"/>
                        <a:cs typeface="Cambria Math" charset="0"/>
                      </a:rPr>
                      <m:t>&lt;∞</m:t>
                    </m:r>
                  </m:oMath>
                </a14:m>
                <a:r>
                  <a:rPr lang="en-US" dirty="0">
                    <a:latin typeface="Helvetica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ℤ</m:t>
                    </m:r>
                  </m:oMath>
                </a14:m>
                <a:r>
                  <a:rPr lang="en-US" dirty="0">
                    <a:latin typeface="Helvetica" charset="0"/>
                  </a:rPr>
                  <a:t>,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latin typeface="Helvetic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dirty="0">
                    <a:latin typeface="Helvetica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ℤ</m:t>
                    </m:r>
                  </m:oMath>
                </a14:m>
                <a:r>
                  <a:rPr lang="en-US" dirty="0">
                    <a:latin typeface="Helvetica" charset="0"/>
                  </a:rPr>
                  <a:t>, and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latin typeface="Helvetic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𝑟</m:t>
                        </m:r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𝑟</m:t>
                        </m:r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𝑠</m:t>
                        </m:r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charset="0"/>
                      </a:rPr>
                      <m:t>r</m:t>
                    </m:r>
                    <m:r>
                      <a:rPr lang="en-US">
                        <a:latin typeface="Cambria Math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charset="0"/>
                      </a:rPr>
                      <m:t>s</m:t>
                    </m:r>
                    <m:r>
                      <a:rPr lang="en-US">
                        <a:latin typeface="Cambria Math" charset="0"/>
                      </a:rPr>
                      <m:t>, </m:t>
                    </m:r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ℤ</m:t>
                    </m:r>
                  </m:oMath>
                </a14:m>
                <a:r>
                  <a:rPr lang="en-US" dirty="0">
                    <a:latin typeface="Helvetica" charset="0"/>
                  </a:rPr>
                  <a:t>.</a:t>
                </a:r>
              </a:p>
              <a:p>
                <a:pPr>
                  <a:lnSpc>
                    <a:spcPct val="110000"/>
                  </a:lnSpc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811F49B-BBD3-4710-8DDF-8D1369351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349" y="1159110"/>
                <a:ext cx="9914673" cy="4111025"/>
              </a:xfrm>
              <a:prstGeom prst="rect">
                <a:avLst/>
              </a:prstGeom>
              <a:blipFill>
                <a:blip r:embed="rId2"/>
                <a:stretch>
                  <a:fillRect l="-923" t="-3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315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3E3A1C3-44FA-433E-A0C3-30FDE1FD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575ACB-3E12-411E-88E7-C46C39C2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ABAD71-015F-40F1-A48B-5A14B5A4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A4E5B8-8756-4719-B715-4577FFBCC9E0}"/>
              </a:ext>
            </a:extLst>
          </p:cNvPr>
          <p:cNvSpPr txBox="1">
            <a:spLocks/>
          </p:cNvSpPr>
          <p:nvPr/>
        </p:nvSpPr>
        <p:spPr>
          <a:xfrm>
            <a:off x="1738097" y="155409"/>
            <a:ext cx="9764926" cy="61627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itesse Bold"/>
                <a:ea typeface="+mj-ea"/>
              </a:rPr>
              <a:t>ARMA Model: Definition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itesse Bold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B9924BA-ECCD-48E9-91C4-6BEFB9AB1F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0845" y="1271967"/>
                <a:ext cx="10233346" cy="51023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The process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∈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said to be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ARM</m:t>
                    </m:r>
                    <m:r>
                      <a:rPr lang="en-US" i="1">
                        <a:latin typeface="Cambria Math" charset="0"/>
                      </a:rPr>
                      <m:t>𝐴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process if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stationary and if for every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>
                    <a:latin typeface="Helvetica" charset="0"/>
                  </a:rPr>
                  <a:t>,</a:t>
                </a:r>
              </a:p>
              <a:p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− .. . 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 .. .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                                    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~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WN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AR order </a:t>
                </a:r>
                <a:r>
                  <a:rPr lang="en-US" i="1" dirty="0">
                    <a:latin typeface="Helvetica" charset="0"/>
                  </a:rPr>
                  <a:t>p</a:t>
                </a:r>
                <a:r>
                  <a:rPr lang="en-US" dirty="0">
                    <a:latin typeface="Helvetica" charset="0"/>
                  </a:rPr>
                  <a:t> and MA order </a:t>
                </a:r>
                <a:r>
                  <a:rPr lang="en-US" i="1" dirty="0">
                    <a:latin typeface="Helvetica" charset="0"/>
                  </a:rPr>
                  <a:t>q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said to be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ARM</m:t>
                    </m:r>
                    <m:r>
                      <a:rPr lang="en-US" i="1">
                        <a:latin typeface="Cambria Math" charset="0"/>
                      </a:rPr>
                      <m:t>𝐴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" charset="0"/>
                  </a:rPr>
                  <a:t>process with mean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dirty="0">
                    <a:latin typeface="Helvetica" charset="0"/>
                  </a:rPr>
                  <a:t> if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ARM</m:t>
                    </m:r>
                    <m:r>
                      <a:rPr lang="en-US" i="1">
                        <a:latin typeface="Cambria Math" charset="0"/>
                      </a:rPr>
                      <m:t>𝐴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process.</a:t>
                </a:r>
              </a:p>
              <a:p>
                <a:pPr>
                  <a:lnSpc>
                    <a:spcPct val="110000"/>
                  </a:lnSpc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B9924BA-ECCD-48E9-91C4-6BEFB9AB1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845" y="1271967"/>
                <a:ext cx="10233346" cy="5102329"/>
              </a:xfrm>
              <a:prstGeom prst="rect">
                <a:avLst/>
              </a:prstGeom>
              <a:blipFill>
                <a:blip r:embed="rId2"/>
                <a:stretch>
                  <a:fillRect l="-15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92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B4193F-B860-4217-B3F7-1B823DFCF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43D7A07-ADD5-4F06-8F29-8F1C05A1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844CA6-38D9-4E18-A16F-B84284BF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BB834B-3E39-44E5-A08E-B97A419B8503}"/>
              </a:ext>
            </a:extLst>
          </p:cNvPr>
          <p:cNvSpPr txBox="1">
            <a:spLocks/>
          </p:cNvSpPr>
          <p:nvPr/>
        </p:nvSpPr>
        <p:spPr>
          <a:xfrm>
            <a:off x="1588349" y="301462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ARMA Model: Notation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561184-BCC5-438C-B458-85A429E581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349" y="1145858"/>
                <a:ext cx="9914673" cy="47374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Write the ARMA model in the more compact form</a:t>
                </a:r>
              </a:p>
              <a:p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− .. . 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and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=1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.. .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>
                  <a:latin typeface="Helvetica" charset="0"/>
                  <a:ea typeface="Cambria Math" charset="0"/>
                  <a:cs typeface="Cambria Math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The polynomials are called the autoregressive and moving average polynomials, respectively.</a:t>
                </a:r>
              </a:p>
              <a:p>
                <a:pPr>
                  <a:lnSpc>
                    <a:spcPct val="110000"/>
                  </a:lnSpc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561184-BCC5-438C-B458-85A429E58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349" y="1145858"/>
                <a:ext cx="9914673" cy="4737417"/>
              </a:xfrm>
              <a:prstGeom prst="rect">
                <a:avLst/>
              </a:prstGeom>
              <a:blipFill>
                <a:blip r:embed="rId2"/>
                <a:stretch>
                  <a:fillRect l="-1415" t="-72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1AD6F1-1518-4537-9DB6-FFB1EC4D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26C003-0214-4F77-BFE5-F80F018B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E426C2-114A-433D-ADE1-909CE574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21E9D3-4625-4472-9074-0DA62D5D6E54}"/>
              </a:ext>
            </a:extLst>
          </p:cNvPr>
          <p:cNvSpPr txBox="1">
            <a:spLocks/>
          </p:cNvSpPr>
          <p:nvPr/>
        </p:nvSpPr>
        <p:spPr>
          <a:xfrm>
            <a:off x="1736035" y="-6676"/>
            <a:ext cx="9766987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ARMA Model: General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4275755-EBCB-4093-8DDD-7A09F8D6B2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61089" y="986832"/>
                <a:ext cx="9941933" cy="475135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The class of “autoregressive moving average” or ARMA models</a:t>
                </a:r>
                <a:r>
                  <a:rPr lang="zh-CN" altLang="en-US" dirty="0">
                    <a:latin typeface="Helvetica" charset="0"/>
                  </a:rPr>
                  <a:t> </a:t>
                </a:r>
                <a:r>
                  <a:rPr lang="en-US" dirty="0">
                    <a:latin typeface="Helvetica" charset="0"/>
                  </a:rPr>
                  <a:t>forms an important family of stationary time series, for a number of</a:t>
                </a:r>
                <a:r>
                  <a:rPr lang="zh-CN" altLang="en-US" dirty="0">
                    <a:latin typeface="Helvetica" charset="0"/>
                  </a:rPr>
                  <a:t> </a:t>
                </a:r>
                <a:r>
                  <a:rPr lang="en-US" dirty="0">
                    <a:latin typeface="Helvetica" charset="0"/>
                  </a:rPr>
                  <a:t>reasons, including the following two.</a:t>
                </a:r>
              </a:p>
              <a:p>
                <a:endParaRPr lang="en-US" dirty="0">
                  <a:latin typeface="Helvetica" charset="0"/>
                </a:endParaRP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dirty="0">
                    <a:latin typeface="Helvetica" charset="0"/>
                  </a:rPr>
                  <a:t>For </a:t>
                </a:r>
                <a:r>
                  <a:rPr lang="en-US" i="1" dirty="0">
                    <a:latin typeface="Helvetica" charset="0"/>
                  </a:rPr>
                  <a:t>any</a:t>
                </a:r>
                <a:r>
                  <a:rPr lang="en-US" dirty="0">
                    <a:latin typeface="Helvetica" charset="0"/>
                  </a:rPr>
                  <a:t> </a:t>
                </a:r>
                <a:r>
                  <a:rPr lang="en-US" dirty="0" err="1">
                    <a:latin typeface="Helvetica" charset="0"/>
                  </a:rPr>
                  <a:t>autocovariance</a:t>
                </a:r>
                <a:r>
                  <a:rPr lang="en-US" dirty="0">
                    <a:latin typeface="Helvetica" charset="0"/>
                  </a:rPr>
                  <a:t>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charset="0"/>
                              </a:rPr>
                              <m:t>h</m:t>
                            </m:r>
                            <m:r>
                              <a:rPr lang="is-I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𝛾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h</m:t>
                            </m:r>
                          </m:e>
                        </m:d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en-US" dirty="0">
                    <a:latin typeface="Helvetica" charset="0"/>
                  </a:rPr>
                  <a:t>, and any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𝑘</m:t>
                    </m:r>
                    <m:r>
                      <a:rPr lang="en-US" i="1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dirty="0">
                    <a:latin typeface="Helvetica" charset="0"/>
                  </a:rPr>
                  <a:t>, it is possible to find an ARMA process with </a:t>
                </a:r>
                <a:r>
                  <a:rPr lang="en-US" dirty="0" err="1">
                    <a:latin typeface="Helvetica" charset="0"/>
                  </a:rPr>
                  <a:t>autocovariance</a:t>
                </a:r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∙)</m:t>
                    </m:r>
                  </m:oMath>
                </a14:m>
                <a:r>
                  <a:rPr lang="en-US" dirty="0">
                    <a:latin typeface="Helvetica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h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h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dirty="0">
                    <a:latin typeface="Helvetica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h</m:t>
                    </m:r>
                    <m:r>
                      <a:rPr lang="en-US" i="1">
                        <a:latin typeface="Cambria Math" charset="0"/>
                      </a:rPr>
                      <m:t>=0, 1, 2, .. ., </m:t>
                    </m:r>
                    <m:r>
                      <a:rPr lang="en-US" i="1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dirty="0">
                    <a:latin typeface="Helvetica" charset="0"/>
                  </a:rPr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US" sz="2000" dirty="0">
                  <a:latin typeface="Helvetica" charset="0"/>
                </a:endParaRP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dirty="0">
                    <a:latin typeface="Helvetica" charset="0"/>
                  </a:rPr>
                  <a:t>The linear structure of ARMA models makes prediction “easy” to carry out.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4275755-EBCB-4093-8DDD-7A09F8D6B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089" y="986832"/>
                <a:ext cx="9941933" cy="4751359"/>
              </a:xfrm>
              <a:prstGeom prst="rect">
                <a:avLst/>
              </a:prstGeom>
              <a:blipFill>
                <a:blip r:embed="rId2"/>
                <a:stretch>
                  <a:fillRect l="-1533" t="-128" r="-15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01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215</TotalTime>
  <Words>409</Words>
  <Application>Microsoft Office PowerPoint</Application>
  <PresentationFormat>Grand écran</PresentationFormat>
  <Paragraphs>60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5" baseType="lpstr">
      <vt:lpstr>华文楷体</vt:lpstr>
      <vt:lpstr>Arial</vt:lpstr>
      <vt:lpstr>Calibri</vt:lpstr>
      <vt:lpstr>Cambria Math</vt:lpstr>
      <vt:lpstr>Corbel</vt:lpstr>
      <vt:lpstr>Helvetica</vt:lpstr>
      <vt:lpstr>Helvetica Neue</vt:lpstr>
      <vt:lpstr>Vitesse Bold</vt:lpstr>
      <vt:lpstr>Parallaxe</vt:lpstr>
      <vt:lpstr>Time Series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Aymen Ben Brik</dc:creator>
  <cp:lastModifiedBy>Aymen Ben Brik</cp:lastModifiedBy>
  <cp:revision>17</cp:revision>
  <dcterms:created xsi:type="dcterms:W3CDTF">2019-02-05T00:43:47Z</dcterms:created>
  <dcterms:modified xsi:type="dcterms:W3CDTF">2019-03-14T08:36:32Z</dcterms:modified>
</cp:coreProperties>
</file>