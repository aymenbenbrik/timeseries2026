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438B7-D97E-4770-A539-A1B6910BB87B}" type="datetimeFigureOut">
              <a:rPr lang="fr-FR" smtClean="0"/>
              <a:t>15/12/2019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E77CA1-D37D-4424-91DA-23C8B0CE67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9457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A0013-9392-4998-B595-C3A226F909A9}" type="datetime1">
              <a:rPr lang="en-US" smtClean="0"/>
              <a:t>12/15/2019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6B34C-0959-4963-AEDD-7181418C5829}" type="datetime1">
              <a:rPr lang="en-US" smtClean="0"/>
              <a:t>12/15/2019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F3391-0524-48BE-B802-07E8C4BF6C7A}" type="datetime1">
              <a:rPr lang="en-US" smtClean="0"/>
              <a:t>12/15/2019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35F0F-7D7E-4CC0-B577-84914831A312}" type="datetime1">
              <a:rPr lang="en-US" smtClean="0"/>
              <a:t>12/15/2019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FB4F4-A08E-4969-B50F-21B35D658A6B}" type="datetime1">
              <a:rPr lang="en-US" smtClean="0"/>
              <a:t>12/15/2019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31516-A138-44BA-9CE1-3B3154946CAA}" type="datetime1">
              <a:rPr lang="en-US" smtClean="0"/>
              <a:t>12/15/2019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C6C67-68F4-4BBD-A854-527ACA5849E2}" type="datetime1">
              <a:rPr lang="en-US" smtClean="0"/>
              <a:t>12/15/2019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B091D-F595-4E3B-AF15-D6E8938331F5}" type="datetime1">
              <a:rPr lang="en-US" smtClean="0"/>
              <a:t>12/15/2019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5C48E-F047-4749-BFB5-C28C2BDBAFBE}" type="datetime1">
              <a:rPr lang="en-US" smtClean="0"/>
              <a:t>12/15/2019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54BFE-AE4F-45BD-968E-EB0EF6E91C83}" type="datetime1">
              <a:rPr lang="en-US" smtClean="0"/>
              <a:t>12/15/2019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11D1C-7789-4806-9761-57A7701F99EE}" type="datetime1">
              <a:rPr lang="en-US" smtClean="0"/>
              <a:t>12/15/2019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AA364-AFBF-4E3C-86F6-197829BB0F6C}" type="datetime1">
              <a:rPr lang="en-US" smtClean="0"/>
              <a:t>12/15/2019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15B79-CC25-467A-BB2D-D74CCE90EF74}" type="datetime1">
              <a:rPr lang="en-US" smtClean="0"/>
              <a:t>12/15/2019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25318-725D-4CDB-8DC2-5DADBB219C4D}" type="datetime1">
              <a:rPr lang="en-US" smtClean="0"/>
              <a:t>12/15/2019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7FC3-E082-4A68-B69C-832574A8CA74}" type="datetime1">
              <a:rPr lang="en-US" smtClean="0"/>
              <a:t>12/15/2019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793FE-5B6A-4018-BC8B-098A0B6F9659}" type="datetime1">
              <a:rPr lang="en-US" smtClean="0"/>
              <a:t>12/15/2019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31CDA-F085-4736-9522-B2783E7C625A}" type="datetime1">
              <a:rPr lang="en-US" smtClean="0"/>
              <a:t>12/15/2019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CAFCD7F-5E5A-4EA4-8DC0-958C35052CAF}" type="datetime1">
              <a:rPr lang="en-US" smtClean="0"/>
              <a:t>12/15/2019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9F693C-D157-40BC-B623-685B033DEB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Time </a:t>
            </a:r>
            <a:r>
              <a:rPr lang="fr-FR" dirty="0" err="1"/>
              <a:t>Series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B7EDA5A-5055-42B9-986D-439AF9D5EF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/>
              <a:t>Basic Statistical Concepts</a:t>
            </a:r>
          </a:p>
          <a:p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CEE56E-B7A3-4253-A4F0-DF0537EFE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Aymen Ben Brik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6858CA-A2CD-4A52-9682-3422F6DC5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092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90FD41-4B20-4DA6-BCF2-CC01DB406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Statistical Concepts</a:t>
            </a:r>
            <a:br>
              <a:rPr lang="en-US" dirty="0"/>
            </a:br>
            <a:endParaRPr lang="fr-FR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69EFE76-8D3C-478F-8CE4-653AF1E9C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3" y="2667000"/>
            <a:ext cx="10018712" cy="3124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 i="1" u="sng" dirty="0">
                <a:latin typeface="Helvetica Neue"/>
              </a:rPr>
              <a:t>Moments of a Distribution:</a:t>
            </a:r>
            <a:r>
              <a:rPr lang="en-US" sz="2400" dirty="0">
                <a:latin typeface="Helvetica Neue"/>
              </a:rPr>
              <a:t> Fully characterizing the distribution 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i="1" u="sng" dirty="0">
                <a:latin typeface="Helvetica Neue"/>
              </a:rPr>
              <a:t>Estimation Methods</a:t>
            </a:r>
            <a:r>
              <a:rPr lang="en-US" sz="2400" dirty="0">
                <a:latin typeface="Helvetica Neue"/>
              </a:rPr>
              <a:t>: Method of Moments versus Maximum Likelihood Estimation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i="1" u="sng" dirty="0">
                <a:latin typeface="Helvetica Neue"/>
              </a:rPr>
              <a:t>Basic Estimators</a:t>
            </a:r>
            <a:r>
              <a:rPr lang="en-US" sz="2400" dirty="0">
                <a:latin typeface="Helvetica Neue"/>
              </a:rPr>
              <a:t>: Approach and Sampling Distribution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i="1" u="sng" dirty="0">
                <a:latin typeface="Helvetica Neue"/>
              </a:rPr>
              <a:t>Multivariate data</a:t>
            </a:r>
            <a:r>
              <a:rPr lang="en-US" sz="2400" dirty="0">
                <a:latin typeface="Helvetica Neue"/>
              </a:rPr>
              <a:t>: Joint, marginal, and conditional distribution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i="1" u="sng" dirty="0">
                <a:latin typeface="Helvetica Neue"/>
              </a:rPr>
              <a:t>Statistical Inference</a:t>
            </a:r>
            <a:r>
              <a:rPr lang="en-US" sz="2400" dirty="0">
                <a:latin typeface="Helvetica Neue"/>
              </a:rPr>
              <a:t>: Confidence intervals and Hypothesis Testing 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AAB0314-4922-43E8-B331-F202EB5F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94FFEAE-DF64-4EA0-A507-A356D87C7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917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0852448-ACD9-4982-AA97-834B14F2A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1752600"/>
          </a:xfrm>
        </p:spPr>
        <p:txBody>
          <a:bodyPr/>
          <a:lstStyle/>
          <a:p>
            <a:pPr algn="l"/>
            <a:r>
              <a:rPr lang="en-US" sz="3600" dirty="0"/>
              <a:t>Moments of a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A0D6CE0-67BF-492D-A43A-301BDC3F7E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4313" y="2364088"/>
                <a:ext cx="8265119" cy="411102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 lnSpcReduction="20000"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latin typeface="Helvetica Neue"/>
                  </a:rPr>
                  <a:t>Moments of a random variable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latin typeface="Helvetica Neue"/>
                  </a:rPr>
                  <a:t> with density</a:t>
                </a:r>
                <a:r>
                  <a:rPr lang="en-US" dirty="0">
                    <a:latin typeface="Helvetic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: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    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i="1" dirty="0">
                    <a:latin typeface="Helvetica Neue"/>
                  </a:rPr>
                  <a:t>-</a:t>
                </a:r>
                <a:r>
                  <a:rPr lang="en-US" i="1" dirty="0" err="1">
                    <a:latin typeface="Helvetica Neue"/>
                  </a:rPr>
                  <a:t>th</a:t>
                </a:r>
                <a:r>
                  <a:rPr lang="en-US" i="1" dirty="0">
                    <a:latin typeface="Helvetica Neue"/>
                  </a:rPr>
                  <a:t> moment</a:t>
                </a:r>
                <a:r>
                  <a:rPr lang="en-US" i="1" dirty="0">
                    <a:latin typeface="Helvetica" charset="0"/>
                  </a:rPr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𝑙</m:t>
                        </m:r>
                      </m:sub>
                      <m:sup>
                        <m:r>
                          <a:rPr lang="en-US" i="1">
                            <a:latin typeface="Cambria Math" charset="0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>
                        <a:latin typeface="Cambria Math" charset="0"/>
                        <a:ea typeface="Cambria Math" charset="0"/>
                        <a:cs typeface="Cambria Math" charset="0"/>
                      </a:rPr>
                      <m:t>Ε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i="1">
                                <a:latin typeface="Cambria Math" charset="0"/>
                              </a:rPr>
                              <m:t>𝑙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nary>
                      <m:naryPr>
                        <m:ctrlPr>
                          <a:rPr lang="is-I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charset="0"/>
                          </a:rPr>
                          <m:t>−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∞</m:t>
                        </m:r>
                      </m:sub>
                      <m:sup>
                        <m:r>
                          <a:rPr lang="is-I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is-I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charset="0"/>
                              </a:rPr>
                              <m:t>𝑙</m:t>
                            </m:r>
                          </m:sup>
                        </m:sSup>
                        <m:r>
                          <a:rPr lang="en-US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charset="0"/>
                          </a:rPr>
                          <m:t>ⅆ</m:t>
                        </m:r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</m:nary>
                  </m:oMath>
                </a14:m>
                <a:endParaRPr lang="en-US" dirty="0">
                  <a:latin typeface="Helvetica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i="1" dirty="0">
                    <a:latin typeface="Helvetica Neue"/>
                  </a:rPr>
                  <a:t>-</a:t>
                </a:r>
                <a:r>
                  <a:rPr lang="en-US" i="1" dirty="0" err="1">
                    <a:latin typeface="Helvetica Neue"/>
                  </a:rPr>
                  <a:t>th</a:t>
                </a:r>
                <a:r>
                  <a:rPr lang="en-US" i="1" dirty="0">
                    <a:latin typeface="Helvetica Neue"/>
                  </a:rPr>
                  <a:t> central moment</a:t>
                </a:r>
                <a:r>
                  <a:rPr lang="en-US" dirty="0">
                    <a:latin typeface="Helvetica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𝑙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>
                        <a:latin typeface="Cambria Math" charset="0"/>
                        <a:ea typeface="Cambria Math" charset="0"/>
                        <a:cs typeface="Cambria Math" charset="0"/>
                      </a:rPr>
                      <m:t>Ε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(</m:t>
                        </m:r>
                        <m:sSup>
                          <m:sSup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𝜇</m:t>
                            </m:r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>
                                <a:latin typeface="Cambria Math" charset="0"/>
                              </a:rPr>
                              <m:t>𝑙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nary>
                      <m:naryPr>
                        <m:ctrlPr>
                          <a:rPr lang="is-I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charset="0"/>
                          </a:rPr>
                          <m:t>−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∞</m:t>
                        </m:r>
                      </m:sub>
                      <m:sup>
                        <m:r>
                          <a:rPr lang="is-I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is-I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𝜇</m:t>
                            </m:r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>
                                <a:latin typeface="Cambria Math" charset="0"/>
                              </a:rPr>
                              <m:t>𝑙</m:t>
                            </m:r>
                          </m:sup>
                        </m:sSup>
                        <m:r>
                          <a:rPr lang="en-US" i="1">
                            <a:latin typeface="Cambria Math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charset="0"/>
                          </a:rPr>
                          <m:t>ⅆ</m:t>
                        </m:r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</m:nary>
                  </m:oMath>
                </a14:m>
                <a:endParaRPr lang="en-US" dirty="0">
                  <a:latin typeface="Helvetica" charset="0"/>
                </a:endParaRPr>
              </a:p>
              <a:p>
                <a:r>
                  <a:rPr lang="en-US" u="sng" dirty="0">
                    <a:latin typeface="Helvetica" charset="0"/>
                  </a:rPr>
                  <a:t>Examples of moments</a:t>
                </a:r>
                <a:r>
                  <a:rPr lang="en-US" dirty="0">
                    <a:latin typeface="Helvetica" charset="0"/>
                  </a:rPr>
                  <a:t>: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 Neue"/>
                  </a:rPr>
                  <a:t>Expectation</a:t>
                </a:r>
                <a:r>
                  <a:rPr lang="en-US" dirty="0">
                    <a:latin typeface="Helvetica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charset="0"/>
                        <a:ea typeface="Cambria Math" charset="0"/>
                        <a:cs typeface="Cambria Math" charset="0"/>
                      </a:rPr>
                      <m:t>Ε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US" dirty="0">
                  <a:latin typeface="Helvetica Neue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 Neue"/>
                  </a:rPr>
                  <a:t>Variance</a:t>
                </a:r>
                <a:r>
                  <a:rPr lang="en-US" dirty="0">
                    <a:latin typeface="Helvetica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charset="0"/>
                        <a:ea typeface="Cambria Math" charset="0"/>
                        <a:cs typeface="Cambria Math" charset="0"/>
                      </a:rPr>
                      <m:t>Ε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(</m:t>
                        </m:r>
                        <m:sSup>
                          <m:sSup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𝜇</m:t>
                            </m:r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>
                  <a:latin typeface="Helvetica Neue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 Neue"/>
                  </a:rPr>
                  <a:t>Skewness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𝑆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>
                        <a:latin typeface="Cambria Math" charset="0"/>
                        <a:ea typeface="Cambria Math" charset="0"/>
                        <a:cs typeface="Cambria Math" charset="0"/>
                      </a:rPr>
                      <m:t>Ε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bg-BG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bg-BG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𝑋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𝜇</m:t>
                                </m:r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bg-BG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bg-BG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 Neue"/>
                  </a:rPr>
                  <a:t>Kurtosis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𝐾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>
                        <a:latin typeface="Cambria Math" charset="0"/>
                        <a:ea typeface="Cambria Math" charset="0"/>
                        <a:cs typeface="Cambria Math" charset="0"/>
                      </a:rPr>
                      <m:t>Ε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bg-BG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bg-BG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𝑋</m:t>
                                </m:r>
                                <m:r>
                                  <a:rPr lang="en-US" i="1">
                                    <a:latin typeface="Cambria Math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𝜇</m:t>
                                </m:r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bg-BG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bg-BG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endParaRPr lang="en-US" dirty="0">
                  <a:latin typeface="Helvetica" charset="0"/>
                </a:endParaRPr>
              </a:p>
              <a:p>
                <a:pPr>
                  <a:lnSpc>
                    <a:spcPct val="110000"/>
                  </a:lnSpc>
                </a:pPr>
                <a:endParaRPr lang="en-US" sz="2200" dirty="0">
                  <a:latin typeface="Helvetica Neue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A0D6CE0-67BF-492D-A43A-301BDC3F7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313" y="2364088"/>
                <a:ext cx="8265119" cy="4111025"/>
              </a:xfrm>
              <a:prstGeom prst="rect">
                <a:avLst/>
              </a:prstGeom>
              <a:blipFill>
                <a:blip r:embed="rId2"/>
                <a:stretch>
                  <a:fillRect l="-1622" t="-1201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348E63A2-1CC4-492C-8F8D-2E65F6ED0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18848004-FFB6-4CE5-8CD1-3AADCB3FC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583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9ECA47A-640D-42CE-BFA2-FAAE0501C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595579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Statistical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93E4F1F-B0DB-4252-9854-6030D9F87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86018" y="1176990"/>
                <a:ext cx="10428904" cy="5406332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>
                    <a:latin typeface="Helvetica Neue"/>
                  </a:rPr>
                  <a:t>Parametric Statistics</a:t>
                </a:r>
                <a:r>
                  <a:rPr lang="en-US" dirty="0">
                    <a:latin typeface="Helvetica Neue"/>
                  </a:rPr>
                  <a:t>: Observe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,…,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latin typeface="Helvetica" charset="0"/>
                  </a:rPr>
                  <a:t> </a:t>
                </a:r>
                <a:r>
                  <a:rPr lang="en-US" dirty="0">
                    <a:latin typeface="Helvetica Neue"/>
                  </a:rPr>
                  <a:t>(realizations) from a set of random variables</a:t>
                </a:r>
                <a:r>
                  <a:rPr lang="en-US" dirty="0">
                    <a:latin typeface="Helvetica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,…,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~ 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𝑓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;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r>
                  <a:rPr lang="en-US" dirty="0">
                    <a:latin typeface="Helvetica Neue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𝑓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;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r>
                  <a:rPr lang="en-US" dirty="0">
                    <a:latin typeface="Helvetica" charset="0"/>
                  </a:rPr>
                  <a:t> </a:t>
                </a:r>
                <a:r>
                  <a:rPr lang="en-US" dirty="0">
                    <a:latin typeface="Helvetica Neue"/>
                  </a:rPr>
                  <a:t>is a density function with parameter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dirty="0">
                    <a:latin typeface="Helvetica Neue"/>
                  </a:rPr>
                  <a:t>which is assumed </a:t>
                </a:r>
                <a:r>
                  <a:rPr lang="en-US" u="sng" dirty="0">
                    <a:latin typeface="Helvetica Neue"/>
                  </a:rPr>
                  <a:t>unknown</a:t>
                </a:r>
                <a:endParaRPr lang="en-US" sz="2200" u="sng" dirty="0">
                  <a:latin typeface="Helvetica Neue"/>
                  <a:ea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Helvetica Neue"/>
                  </a:rPr>
                  <a:t>Estimation</a:t>
                </a:r>
                <a:r>
                  <a:rPr lang="en-US" dirty="0">
                    <a:latin typeface="Helvetica Neue"/>
                  </a:rPr>
                  <a:t>: evaluate the unknown parameter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dirty="0">
                    <a:latin typeface="Helvetica Neue"/>
                  </a:rPr>
                  <a:t>using the set of observations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,…,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dirty="0">
                    <a:latin typeface="Helvetica Neue"/>
                  </a:rPr>
                  <a:t>and using the distribution of the random variables</a:t>
                </a:r>
                <a:r>
                  <a:rPr lang="en-US" dirty="0">
                    <a:latin typeface="Helvetica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,…,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latin typeface="Helvetica" charset="0"/>
                  </a:rPr>
                  <a:t> </a:t>
                </a:r>
                <a:r>
                  <a:rPr lang="en-US" dirty="0">
                    <a:latin typeface="Helvetica Neue"/>
                  </a:rPr>
                  <a:t>from which we observe.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Helvetica Neue"/>
                  </a:rPr>
                  <a:t>Approaches:</a:t>
                </a:r>
                <a:r>
                  <a:rPr lang="en-US" dirty="0">
                    <a:latin typeface="Helvetica Neue"/>
                  </a:rPr>
                  <a:t> </a:t>
                </a:r>
              </a:p>
              <a:p>
                <a:r>
                  <a:rPr lang="en-US" dirty="0">
                    <a:latin typeface="Helvetica Neue"/>
                  </a:rPr>
                  <a:t>    1. Method of Moments (MOM)</a:t>
                </a:r>
              </a:p>
              <a:p>
                <a:r>
                  <a:rPr lang="en-US" dirty="0">
                    <a:latin typeface="Helvetica Neue"/>
                  </a:rPr>
                  <a:t>    2. Maximum Likelihood Estimation (MLE)</a:t>
                </a:r>
              </a:p>
              <a:p>
                <a:endParaRPr lang="en-US" dirty="0">
                  <a:latin typeface="Helvetica" charset="0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93E4F1F-B0DB-4252-9854-6030D9F87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018" y="1176990"/>
                <a:ext cx="10428904" cy="5406332"/>
              </a:xfrm>
              <a:prstGeom prst="rect">
                <a:avLst/>
              </a:prstGeom>
              <a:blipFill>
                <a:blip r:embed="rId2"/>
                <a:stretch>
                  <a:fillRect l="-152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2712F9FA-4FF9-4DDA-8D87-DAD5FCB2B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DB41AD39-EE96-418A-BC41-67AF03089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481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323F659-9A55-44B6-9411-078B37D4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3" y="0"/>
            <a:ext cx="9554748" cy="1129748"/>
          </a:xfrm>
        </p:spPr>
        <p:txBody>
          <a:bodyPr/>
          <a:lstStyle/>
          <a:p>
            <a:pPr algn="l"/>
            <a:r>
              <a:rPr lang="en-US" sz="3600" dirty="0"/>
              <a:t>Examples of Classic Estimators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ECF4066F-FB28-49E9-8595-F3C8C46864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3" y="437322"/>
                <a:ext cx="11237774" cy="6420678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latin typeface="Helvetica" charset="0"/>
                  </a:rPr>
                  <a:t>Given the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{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charset="0"/>
                      </a:rPr>
                      <m:t>,…,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>
                    <a:latin typeface="Helvetica" charset="0"/>
                  </a:rPr>
                  <a:t>}, estimate mean, variance, skewness and kurtosis with</a:t>
                </a:r>
              </a:p>
              <a:p>
                <a:r>
                  <a:rPr lang="en-US" sz="2400" i="1" dirty="0">
                    <a:latin typeface="Helvetica" charset="0"/>
                  </a:rPr>
                  <a:t>Sample mean</a:t>
                </a:r>
                <a:r>
                  <a:rPr lang="en-US" sz="2400" dirty="0">
                    <a:latin typeface="Helvetica" charset="0"/>
                  </a:rPr>
                  <a:t>: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𝜇</m:t>
                        </m:r>
                      </m:e>
                    </m:acc>
                    <m:r>
                      <a:rPr lang="en-US" sz="2400" i="1">
                        <a:latin typeface="Cambria Math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sz="2400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bg-BG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grow m:val="on"/>
                        <m:ctrlPr>
                          <a:rPr lang="is-I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charset="0"/>
                          </a:rPr>
                          <m:t>𝑖</m:t>
                        </m:r>
                        <m:r>
                          <a:rPr lang="en-US" sz="2400" i="1"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2400" dirty="0">
                  <a:latin typeface="Helvetica" charset="0"/>
                </a:endParaRPr>
              </a:p>
              <a:p>
                <a:r>
                  <a:rPr lang="en-US" sz="2400" i="1" dirty="0">
                    <a:latin typeface="Helvetica" charset="0"/>
                  </a:rPr>
                  <a:t>Sample Variance</a:t>
                </a:r>
                <a:r>
                  <a:rPr lang="en-US" sz="2400" dirty="0">
                    <a:latin typeface="Helvetica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bg-BG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charset="0"/>
                          </a:rPr>
                          <m:t>𝑛</m:t>
                        </m:r>
                        <m:r>
                          <a:rPr lang="en-US" sz="2400" i="1">
                            <a:latin typeface="Cambria Math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ctrlPr>
                          <a:rPr lang="is-I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charset="0"/>
                          </a:rPr>
                          <m:t>𝑖</m:t>
                        </m:r>
                        <m:r>
                          <a:rPr lang="en-US" sz="2400" i="1"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is-I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s-I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400" dirty="0">
                  <a:latin typeface="Helvetica" charset="0"/>
                </a:endParaRPr>
              </a:p>
              <a:p>
                <a:r>
                  <a:rPr lang="en-US" sz="2400" i="1" dirty="0">
                    <a:latin typeface="Helvetica" charset="0"/>
                  </a:rPr>
                  <a:t>Sample skewness</a:t>
                </a:r>
                <a:r>
                  <a:rPr lang="en-US" sz="2400" dirty="0">
                    <a:latin typeface="Helvetica" charset="0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charset="0"/>
                          </a:rPr>
                          <m:t>𝑆</m:t>
                        </m:r>
                      </m:e>
                    </m:acc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bg-BG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charset="0"/>
                          </a:rPr>
                          <m:t>(</m:t>
                        </m:r>
                        <m:r>
                          <a:rPr lang="en-US" sz="2400" i="1">
                            <a:latin typeface="Cambria Math" charset="0"/>
                          </a:rPr>
                          <m:t>𝑛</m:t>
                        </m:r>
                        <m:r>
                          <a:rPr lang="en-US" sz="2400" i="1">
                            <a:latin typeface="Cambria Math" charset="0"/>
                          </a:rPr>
                          <m:t>−1)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𝜎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i="1">
                                <a:latin typeface="Cambria Math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ctrlPr>
                          <a:rPr lang="is-I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charset="0"/>
                          </a:rPr>
                          <m:t>𝑖</m:t>
                        </m:r>
                        <m:r>
                          <a:rPr lang="en-US" sz="2400" i="1"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is-I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s-I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3</m:t>
                            </m:r>
                          </m:sup>
                        </m:sSup>
                      </m:e>
                    </m:nary>
                  </m:oMath>
                </a14:m>
                <a:endParaRPr lang="en-US" sz="2400" dirty="0">
                  <a:latin typeface="Helvetica" charset="0"/>
                </a:endParaRPr>
              </a:p>
              <a:p>
                <a:r>
                  <a:rPr lang="en-US" sz="2400" i="1" dirty="0">
                    <a:latin typeface="Helvetica" charset="0"/>
                  </a:rPr>
                  <a:t>Sample kurtosis</a:t>
                </a:r>
                <a:r>
                  <a:rPr lang="en-US" sz="2400" dirty="0">
                    <a:latin typeface="Helvetica" charset="0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charset="0"/>
                          </a:rPr>
                          <m:t>𝐾</m:t>
                        </m:r>
                      </m:e>
                    </m:acc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bg-BG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charset="0"/>
                          </a:rPr>
                          <m:t>(</m:t>
                        </m:r>
                        <m:r>
                          <a:rPr lang="en-US" sz="2400" i="1">
                            <a:latin typeface="Cambria Math" charset="0"/>
                          </a:rPr>
                          <m:t>𝑛</m:t>
                        </m:r>
                        <m:r>
                          <a:rPr lang="en-US" sz="2400" i="1">
                            <a:latin typeface="Cambria Math" charset="0"/>
                          </a:rPr>
                          <m:t>−1)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𝜎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ctrlPr>
                          <a:rPr lang="is-I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charset="0"/>
                          </a:rPr>
                          <m:t>𝑖</m:t>
                        </m:r>
                        <m:r>
                          <a:rPr lang="en-US" sz="2400" i="1"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is-I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s-I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4</m:t>
                            </m:r>
                          </m:sup>
                        </m:sSup>
                      </m:e>
                    </m:nary>
                  </m:oMath>
                </a14:m>
                <a:endParaRPr lang="en-US" sz="2400" dirty="0">
                  <a:latin typeface="Helvetica" charset="0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ECF4066F-FB28-49E9-8595-F3C8C46864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3" y="437322"/>
                <a:ext cx="11237774" cy="6420678"/>
              </a:xfrm>
              <a:prstGeom prst="rect">
                <a:avLst/>
              </a:prstGeom>
              <a:blipFill>
                <a:blip r:embed="rId2"/>
                <a:stretch>
                  <a:fillRect l="-13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3735F673-7C22-47CB-85EA-ADFD55B9D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E8185F4-E17B-4347-9594-D9085E8B9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076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18DF5FF-D1D2-44A5-8EE7-4635E33E1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3" y="-361122"/>
            <a:ext cx="10018712" cy="1752600"/>
          </a:xfrm>
        </p:spPr>
        <p:txBody>
          <a:bodyPr/>
          <a:lstStyle/>
          <a:p>
            <a:pPr algn="l"/>
            <a:r>
              <a:rPr lang="en-US" sz="3200" dirty="0"/>
              <a:t>Sampling Distributions of Estimators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AA1452F-5C8E-4F59-8AA8-C3E1FE5010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4313" y="619538"/>
                <a:ext cx="8952612" cy="6536635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u="sng" dirty="0">
                    <a:latin typeface="Helvetica Neue"/>
                    <a:ea typeface="Helvetica" charset="0"/>
                    <a:cs typeface="Helvetica" charset="0"/>
                  </a:rPr>
                  <a:t>Sampling</a:t>
                </a:r>
                <a:r>
                  <a:rPr lang="en-US" u="sng" dirty="0">
                    <a:latin typeface="Helvetica" charset="0"/>
                    <a:ea typeface="Helvetica" charset="0"/>
                    <a:cs typeface="Helvetica" charset="0"/>
                  </a:rPr>
                  <a:t> Distributions</a:t>
                </a:r>
                <a:r>
                  <a:rPr lang="en-US" dirty="0">
                    <a:latin typeface="Helvetica" charset="0"/>
                    <a:ea typeface="Helvetica" charset="0"/>
                    <a:cs typeface="Helvetica" charset="0"/>
                  </a:rPr>
                  <a:t>: Under normality assumption </a:t>
                </a:r>
              </a:p>
              <a:p>
                <a:endParaRPr lang="en-US" dirty="0">
                  <a:latin typeface="Helvetica" charset="0"/>
                  <a:ea typeface="Helvetica" charset="0"/>
                  <a:cs typeface="Helvetica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 </m:t>
                        </m:r>
                        <m:r>
                          <a:rPr lang="en-US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charset="0"/>
                        <a:ea typeface="Helvetica" charset="0"/>
                        <a:cs typeface="Helvetica" charset="0"/>
                      </a:rPr>
                      <m:t>,…,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charset="0"/>
                        <a:ea typeface="Helvetica" charset="0"/>
                        <a:cs typeface="Helvetica" charset="0"/>
                      </a:rPr>
                      <m:t> ~ </m:t>
                    </m:r>
                    <m:r>
                      <a:rPr lang="en-US" i="1">
                        <a:latin typeface="Cambria Math" charset="0"/>
                        <a:ea typeface="Helvetica" charset="0"/>
                        <a:cs typeface="Helvetica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𝜇</m:t>
                        </m:r>
                        <m:r>
                          <a:rPr lang="en-US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>
                  <a:latin typeface="Helvetica" charset="0"/>
                  <a:ea typeface="Helvetica" charset="0"/>
                  <a:cs typeface="Helvetica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𝑋</m:t>
                        </m:r>
                      </m:e>
                    </m:acc>
                    <m:r>
                      <a:rPr lang="en-US" i="1">
                        <a:latin typeface="Cambria Math" charset="0"/>
                        <a:ea typeface="Helvetica" charset="0"/>
                        <a:cs typeface="Helvetica" charset="0"/>
                      </a:rPr>
                      <m:t> ~ </m:t>
                    </m:r>
                    <m:r>
                      <a:rPr lang="en-US" i="1">
                        <a:latin typeface="Cambria Math" charset="0"/>
                        <a:ea typeface="Helvetica" charset="0"/>
                        <a:cs typeface="Helvetica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𝜇</m:t>
                        </m:r>
                        <m:r>
                          <a:rPr lang="en-US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/</m:t>
                        </m:r>
                        <m:r>
                          <a:rPr lang="en-US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>
                  <a:latin typeface="Helvetica" charset="0"/>
                  <a:ea typeface="Helvetica" charset="0"/>
                  <a:cs typeface="Helvetica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bg-BG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(</m:t>
                        </m:r>
                        <m:r>
                          <a:rPr lang="en-US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𝑛</m:t>
                        </m:r>
                        <m:r>
                          <a:rPr lang="en-US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−1)</m:t>
                        </m:r>
                      </m:num>
                      <m:den>
                        <m:sSup>
                          <m:sSupPr>
                            <m:ctrlPr>
                              <a:rPr lang="bg-BG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pPr>
                          <m:e>
                            <m:r>
                              <a:rPr lang="bg-BG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i="1">
                        <a:latin typeface="Cambria Math" charset="0"/>
                        <a:ea typeface="Helvetica" charset="0"/>
                        <a:cs typeface="Helvetica" charset="0"/>
                      </a:rPr>
                      <m:t> ~ 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𝜒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𝑛</m:t>
                        </m:r>
                        <m:r>
                          <a:rPr lang="en-US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−1</m:t>
                        </m:r>
                      </m:sub>
                      <m:sup>
                        <m:r>
                          <a:rPr lang="en-US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>
                  <a:latin typeface="Helvetica" charset="0"/>
                  <a:ea typeface="Helvetica" charset="0"/>
                  <a:cs typeface="Helvetica" charset="0"/>
                </a:endParaRPr>
              </a:p>
              <a:p>
                <a:r>
                  <a:rPr lang="en-US" u="sng" dirty="0">
                    <a:latin typeface="Helvetica Neue"/>
                    <a:ea typeface="Helvetica" charset="0"/>
                    <a:cs typeface="Helvetica" charset="0"/>
                  </a:rPr>
                  <a:t>Properties of the Estimators</a:t>
                </a:r>
              </a:p>
              <a:p>
                <a:r>
                  <a:rPr lang="en-US" dirty="0">
                    <a:latin typeface="Helvetica" charset="0"/>
                    <a:ea typeface="Helvetica" charset="0"/>
                    <a:cs typeface="Helvetica" charset="0"/>
                  </a:rPr>
                  <a:t>1. Unbiasedness</a:t>
                </a:r>
              </a:p>
              <a:p>
                <a:r>
                  <a:rPr lang="en-US" dirty="0">
                    <a:latin typeface="Helvetica" charset="0"/>
                    <a:ea typeface="Helvetica" charset="0"/>
                    <a:cs typeface="Helvetica" charset="0"/>
                  </a:rPr>
                  <a:t>2. Consistency</a:t>
                </a:r>
              </a:p>
              <a:p>
                <a:endParaRPr lang="en-US" dirty="0">
                  <a:latin typeface="Helvetica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AA1452F-5C8E-4F59-8AA8-C3E1FE501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313" y="619538"/>
                <a:ext cx="8952612" cy="6536635"/>
              </a:xfrm>
              <a:prstGeom prst="rect">
                <a:avLst/>
              </a:prstGeom>
              <a:blipFill>
                <a:blip r:embed="rId2"/>
                <a:stretch>
                  <a:fillRect l="-170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36B8D2D-2E02-45EB-A79B-00E6B16EC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986E440-0DAB-41E1-BC83-2AEC3C9A3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734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336454B-E3EB-43D6-B993-55EF65A2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3" y="-533400"/>
            <a:ext cx="10018712" cy="1752600"/>
          </a:xfrm>
        </p:spPr>
        <p:txBody>
          <a:bodyPr/>
          <a:lstStyle/>
          <a:p>
            <a:r>
              <a:rPr lang="en-US" sz="3600" dirty="0"/>
              <a:t>Method of Moments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EF0E848-539E-415F-AD7E-8907C640D4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3" y="543339"/>
                <a:ext cx="10018712" cy="6215270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txBody>
              <a:bodyPr>
                <a:normAutofit/>
              </a:bodyPr>
              <a:lstStyle/>
              <a:p>
                <a:r>
                  <a:rPr lang="en-US" sz="2800" b="1" dirty="0">
                    <a:latin typeface="Helvetica" charset="0"/>
                  </a:rPr>
                  <a:t>MOM Approach:</a:t>
                </a:r>
                <a:r>
                  <a:rPr lang="en-US" sz="2800" dirty="0">
                    <a:latin typeface="Helvetica" charset="0"/>
                  </a:rPr>
                  <a:t> Equate the distribution moments to the observed moments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Ε</m:t>
                    </m:r>
                    <m:d>
                      <m:dPr>
                        <m:begChr m:val="["/>
                        <m:endChr m:val="]"/>
                        <m:ctrlPr>
                          <a:rPr lang="pt-BR" sz="2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sz="28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𝑝</m:t>
                            </m:r>
                          </m:sup>
                        </m:sSup>
                      </m:e>
                    </m:d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f>
                      <m:fPr>
                        <m:ctrlPr>
                          <a:rPr lang="bg-BG" sz="2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is-IS" sz="2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𝑖</m:t>
                        </m:r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𝑝</m:t>
                            </m:r>
                          </m:sup>
                        </m:sSubSup>
                      </m:e>
                    </m:nary>
                  </m:oMath>
                </a14:m>
                <a:endParaRPr lang="en-US" sz="2800" dirty="0">
                  <a:latin typeface="Helvetica" charset="0"/>
                </a:endParaRPr>
              </a:p>
              <a:p>
                <a:r>
                  <a:rPr lang="en-US" sz="2800" dirty="0">
                    <a:latin typeface="Helvetica" charset="0"/>
                  </a:rPr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charset="0"/>
                      </a:rPr>
                      <m:t>,…,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en-US" sz="2800" i="1">
                        <a:latin typeface="Cambria Math" charset="0"/>
                      </a:rPr>
                      <m:t>  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~ 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𝑁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𝜇</m:t>
                        </m:r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800" dirty="0">
                  <a:latin typeface="Helvetica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charset="0"/>
                          </a:rPr>
                          <m:t>𝑝</m:t>
                        </m:r>
                        <m:r>
                          <a:rPr lang="en-US" sz="2800" i="1">
                            <a:latin typeface="Cambria Math" charset="0"/>
                          </a:rPr>
                          <m:t>=1</m:t>
                        </m:r>
                      </m:e>
                    </m:d>
                    <m:r>
                      <a:rPr lang="en-US" sz="2800" i="1">
                        <a:latin typeface="Cambria Math" charset="0"/>
                      </a:rPr>
                      <m:t> :  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Ε</m:t>
                    </m:r>
                    <m:d>
                      <m:dPr>
                        <m:begChr m:val="["/>
                        <m:endChr m:val="]"/>
                        <m:ctrlPr>
                          <a:rPr lang="pt-BR" sz="2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𝑋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𝜇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)=</m:t>
                    </m:r>
                    <m:f>
                      <m:fPr>
                        <m:ctrlPr>
                          <a:rPr lang="bg-BG" sz="2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is-IS" sz="2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𝑖</m:t>
                        </m:r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⇨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bg-BG" sz="2800" i="1" smtClean="0">
                            <a:latin typeface="Cambria Math" panose="02040503050406030204" pitchFamily="18" charset="0"/>
                            <a:ea typeface="Cambria Math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𝜇</m:t>
                        </m:r>
                      </m:e>
                    </m:acc>
                    <m:r>
                      <a:rPr lang="en-US" sz="2800" b="0" i="1" smtClean="0">
                        <a:latin typeface="Cambria Math" panose="02040503050406030204" pitchFamily="18" charset="0"/>
                        <a:ea typeface="Cambria Math" charset="0"/>
                      </a:rPr>
                      <m:t>=</m:t>
                    </m:r>
                    <m:f>
                      <m:fPr>
                        <m:ctrlPr>
                          <a:rPr lang="bg-BG" sz="2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is-IS" sz="2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𝑖</m:t>
                        </m:r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2800" dirty="0">
                  <a:latin typeface="Helvetica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charset="0"/>
                          </a:rPr>
                          <m:t>𝑝</m:t>
                        </m:r>
                        <m:r>
                          <a:rPr lang="en-US" sz="2800" i="1">
                            <a:latin typeface="Cambria Math" charset="0"/>
                          </a:rPr>
                          <m:t>=2</m:t>
                        </m:r>
                      </m:e>
                    </m:d>
                    <m:r>
                      <a:rPr lang="en-US" sz="2800" i="1">
                        <a:latin typeface="Cambria Math" charset="0"/>
                      </a:rPr>
                      <m:t> :  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Ε</m:t>
                    </m:r>
                    <m:d>
                      <m:dPr>
                        <m:begChr m:val="["/>
                        <m:endChr m:val="]"/>
                        <m:ctrlPr>
                          <a:rPr lang="pt-BR" sz="2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sz="28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𝜎</m:t>
                        </m:r>
                      </m:e>
                      <m:sup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−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𝜇</m:t>
                        </m:r>
                      </m:e>
                      <m:sup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)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f>
                      <m:fPr>
                        <m:ctrlPr>
                          <a:rPr lang="bg-BG" sz="2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is-IS" sz="2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𝑖</m:t>
                        </m:r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is-IS" sz="24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  <m:t>(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charset="0"/>
                                    <a:cs typeface="Cambria Math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charset="0"/>
                          </a:rPr>
                          <m:t>𝑛</m:t>
                        </m:r>
                      </m:den>
                    </m:f>
                  </m:oMath>
                </a14:m>
                <a:endParaRPr lang="en-US" sz="2400" dirty="0">
                  <a:latin typeface="Helvetica" charset="0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EF0E848-539E-415F-AD7E-8907C640D4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3" y="543339"/>
                <a:ext cx="10018712" cy="6215270"/>
              </a:xfrm>
              <a:prstGeom prst="rect">
                <a:avLst/>
              </a:prstGeom>
              <a:blipFill>
                <a:blip r:embed="rId2"/>
                <a:stretch>
                  <a:fillRect l="-200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E9652674-0CEF-4928-B640-91F207C0C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FB069EFA-AD48-4AA3-A56A-F8271D2B8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26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4B796B-A66D-4231-AB4D-28632CFA6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3" y="-53012"/>
            <a:ext cx="10018712" cy="702367"/>
          </a:xfrm>
        </p:spPr>
        <p:txBody>
          <a:bodyPr/>
          <a:lstStyle/>
          <a:p>
            <a:pPr algn="l"/>
            <a:r>
              <a:rPr lang="en-US" sz="3600" dirty="0"/>
              <a:t>Maximum Likelihood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C8509A3-02D7-4F33-A8A8-2450D56580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3" y="781878"/>
                <a:ext cx="10018712" cy="5923722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sz="2800" b="1" dirty="0">
                    <a:latin typeface="Helvetica" charset="0"/>
                  </a:rPr>
                  <a:t>MLE Approach:</a:t>
                </a:r>
                <a:r>
                  <a:rPr lang="en-US" sz="2800" dirty="0">
                    <a:latin typeface="Helvetica" charset="0"/>
                  </a:rPr>
                  <a:t> Maximize the likelihood function of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Helvetica" charset="0"/>
                  </a:rPr>
                  <a:t>given the data.</a:t>
                </a:r>
              </a:p>
              <a:p>
                <a:endParaRPr lang="en-US" sz="2800" dirty="0">
                  <a:latin typeface="Helvetica" charset="0"/>
                </a:endParaRPr>
              </a:p>
              <a:p>
                <a:r>
                  <a:rPr lang="en-US" sz="2800" dirty="0">
                    <a:latin typeface="Helvetica" charset="0"/>
                  </a:rPr>
                  <a:t>Joint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charset="0"/>
                      </a:rPr>
                      <m:t>,…,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en-US" sz="2800" i="1">
                        <a:latin typeface="Cambria Math" charset="0"/>
                      </a:rPr>
                      <m:t>  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~ 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𝑓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;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) </m:t>
                    </m:r>
                  </m:oMath>
                </a14:m>
                <a:r>
                  <a:rPr lang="en-US" sz="2800" dirty="0">
                    <a:latin typeface="Helvetica" charset="0"/>
                  </a:rPr>
                  <a:t> under independence assumption</a:t>
                </a:r>
              </a:p>
              <a:p>
                <a:endParaRPr lang="en-US" sz="2800" dirty="0">
                  <a:latin typeface="Helvetica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charset="0"/>
                          </a:rPr>
                          <m:t>, .. .,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800" i="1">
                            <a:latin typeface="Cambria Math" charset="0"/>
                          </a:rPr>
                          <m:t>;</m:t>
                        </m:r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𝜃</m:t>
                        </m:r>
                      </m:e>
                    </m:d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;</m:t>
                        </m:r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𝜃</m:t>
                        </m:r>
                      </m:e>
                    </m:d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 .. .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𝑓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b>
                    </m:sSub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;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endParaRPr lang="en-US" sz="2800" dirty="0">
                  <a:latin typeface="Helvetica" charset="0"/>
                </a:endParaRPr>
              </a:p>
              <a:p>
                <a:endParaRPr lang="en-US" sz="2800" dirty="0">
                  <a:latin typeface="Helvetica" charset="0"/>
                </a:endParaRPr>
              </a:p>
              <a:p>
                <a:r>
                  <a:rPr lang="en-US" sz="2800" dirty="0">
                    <a:latin typeface="Helvetica" charset="0"/>
                  </a:rPr>
                  <a:t>Likelihood function</a:t>
                </a:r>
              </a:p>
              <a:p>
                <a:endParaRPr lang="en-US" sz="2800" dirty="0">
                  <a:latin typeface="Helvetica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𝐿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𝜃</m:t>
                        </m:r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 :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 .. .,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charset="0"/>
                          </a:rPr>
                          <m:t>, .. .,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800" i="1">
                            <a:latin typeface="Cambria Math" charset="0"/>
                          </a:rPr>
                          <m:t>;</m:t>
                        </m:r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𝜃</m:t>
                        </m:r>
                      </m:e>
                    </m:d>
                  </m:oMath>
                </a14:m>
                <a:endParaRPr lang="en-US" sz="2800" dirty="0">
                  <a:latin typeface="Helvetica" charset="0"/>
                </a:endParaRPr>
              </a:p>
              <a:p>
                <a:endParaRPr lang="en-US" sz="2800" dirty="0">
                  <a:latin typeface="Helvetica" charset="0"/>
                </a:endParaRPr>
              </a:p>
              <a:p>
                <a:r>
                  <a:rPr lang="en-US" sz="2800" dirty="0"/>
                  <a:t>                                          MLE: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𝜃</m:t>
                        </m:r>
                      </m:e>
                    </m:acc>
                    <m:r>
                      <a:rPr lang="en-US" sz="2800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>
                            <a:latin typeface="Cambria Math" charset="0"/>
                          </a:rPr>
                          <m:t>argmax</m:t>
                        </m:r>
                        <m:r>
                          <m:rPr>
                            <m:nor/>
                          </m:rPr>
                          <a:rPr lang="en-US" sz="2800" dirty="0">
                            <a:latin typeface="Helvetica" charset="0"/>
                          </a:rPr>
                          <m:t> 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𝜃</m:t>
                        </m:r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l-GR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Θ</m:t>
                        </m:r>
                      </m:sub>
                    </m:sSub>
                    <m:r>
                      <a:rPr lang="en-US" sz="2800" i="1">
                        <a:latin typeface="Cambria Math" charset="0"/>
                      </a:rPr>
                      <m:t> </m:t>
                    </m:r>
                    <m:r>
                      <a:rPr lang="en-US" sz="2800" i="1">
                        <a:latin typeface="Cambria Math" charset="0"/>
                      </a:rPr>
                      <m:t>𝐿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𝜃</m:t>
                        </m:r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 :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 .. .,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>
                  <a:latin typeface="Helvetica" charset="0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C8509A3-02D7-4F33-A8A8-2450D56580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3" y="781878"/>
                <a:ext cx="10018712" cy="5923722"/>
              </a:xfrm>
              <a:prstGeom prst="rect">
                <a:avLst/>
              </a:prstGeom>
              <a:blipFill>
                <a:blip r:embed="rId2"/>
                <a:stretch>
                  <a:fillRect l="-1521" t="-1029" b="-113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C046B29B-76A7-4096-A0D4-1001956F1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D6DC4AAA-F345-4A7F-8FC2-1EDBFD97C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634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B148338-5327-436D-ADE6-4B399A0A3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3" y="-122582"/>
            <a:ext cx="10018712" cy="864704"/>
          </a:xfrm>
        </p:spPr>
        <p:txBody>
          <a:bodyPr/>
          <a:lstStyle/>
          <a:p>
            <a:pPr algn="l"/>
            <a:r>
              <a:rPr lang="en-US" sz="3600" dirty="0"/>
              <a:t>Multivariate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2400160-DAA9-42BE-8B55-8DF06BDEF7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3" y="755370"/>
                <a:ext cx="10018712" cy="5579166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sz="4200" b="1" u="sng" dirty="0">
                    <a:latin typeface="Helvetica Neue"/>
                  </a:rPr>
                  <a:t>Joint, Marginal and Conditional distributions:</a:t>
                </a:r>
              </a:p>
              <a:p>
                <a:endParaRPr lang="en-US" sz="2800" b="1" u="sng" dirty="0">
                  <a:latin typeface="Helvetica Neue"/>
                </a:endParaRPr>
              </a:p>
              <a:p>
                <a:r>
                  <a:rPr lang="en-US" sz="3600" i="1" dirty="0">
                    <a:latin typeface="Helvetica Neue"/>
                  </a:rPr>
                  <a:t>Joint</a:t>
                </a:r>
                <a:r>
                  <a:rPr lang="en-US" sz="3600" dirty="0">
                    <a:latin typeface="Helvetica Neue"/>
                  </a:rPr>
                  <a:t> distribution = </a:t>
                </a:r>
                <a:r>
                  <a:rPr lang="en-US" sz="3600" i="1" dirty="0">
                    <a:latin typeface="Helvetica Neue"/>
                  </a:rPr>
                  <a:t>Conditional</a:t>
                </a:r>
                <a:r>
                  <a:rPr lang="en-US" sz="3600" dirty="0">
                    <a:latin typeface="Helvetica Neue"/>
                  </a:rPr>
                  <a:t> × </a:t>
                </a:r>
                <a:r>
                  <a:rPr lang="en-US" sz="3600" i="1" dirty="0">
                    <a:latin typeface="Helvetica Neue"/>
                  </a:rPr>
                  <a:t>Marginal</a:t>
                </a:r>
                <a:r>
                  <a:rPr lang="en-US" sz="3600" dirty="0">
                    <a:latin typeface="Helvetica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charset="0"/>
                          </a:rPr>
                          <m:t>𝑥</m:t>
                        </m:r>
                        <m:r>
                          <a:rPr lang="en-US" sz="3600" i="1">
                            <a:latin typeface="Cambria Math" charset="0"/>
                          </a:rPr>
                          <m:t>,</m:t>
                        </m:r>
                        <m:r>
                          <a:rPr lang="en-US" sz="3600" i="1">
                            <a:latin typeface="Cambria Math" charset="0"/>
                          </a:rPr>
                          <m:t>𝑦</m:t>
                        </m:r>
                      </m:e>
                    </m:d>
                    <m:r>
                      <a:rPr lang="en-US" sz="3600" i="1">
                        <a:latin typeface="Cambria Math" charset="0"/>
                      </a:rPr>
                      <m:t>=</m:t>
                    </m:r>
                    <m:r>
                      <a:rPr lang="en-US" sz="36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charset="0"/>
                          </a:rPr>
                          <m:t>𝑥</m:t>
                        </m:r>
                      </m:e>
                      <m:e>
                        <m:r>
                          <a:rPr lang="en-US" sz="3600" i="1">
                            <a:latin typeface="Cambria Math" charset="0"/>
                          </a:rPr>
                          <m:t>𝑦</m:t>
                        </m:r>
                      </m:e>
                    </m:d>
                    <m:r>
                      <a:rPr lang="en-US" sz="36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3600" dirty="0">
                    <a:latin typeface="Helvetica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36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3600" dirty="0">
                  <a:latin typeface="Helvetica" charset="0"/>
                </a:endParaRPr>
              </a:p>
              <a:p>
                <a:endParaRPr lang="en-US" sz="3600" dirty="0">
                  <a:latin typeface="Helvetica" charset="0"/>
                </a:endParaRPr>
              </a:p>
              <a:p>
                <a:r>
                  <a:rPr lang="en-US" sz="3600" dirty="0">
                    <a:latin typeface="Helvetica Neue"/>
                  </a:rPr>
                  <a:t>For three variables 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36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6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36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600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3600" dirty="0">
                    <a:latin typeface="Helvetica Neue"/>
                  </a:rPr>
                  <a:t>:</a:t>
                </a:r>
                <a:r>
                  <a:rPr lang="en-US" sz="3600" dirty="0">
                    <a:latin typeface="Helvetica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36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charset="0"/>
                          </a:rPr>
                          <m:t>𝑥</m:t>
                        </m:r>
                        <m:r>
                          <a:rPr lang="en-US" sz="3600" i="1">
                            <a:latin typeface="Cambria Math" charset="0"/>
                          </a:rPr>
                          <m:t>,</m:t>
                        </m:r>
                        <m:r>
                          <a:rPr lang="en-US" sz="3600" i="1">
                            <a:latin typeface="Cambria Math" charset="0"/>
                          </a:rPr>
                          <m:t>𝑦</m:t>
                        </m:r>
                        <m:r>
                          <a:rPr lang="en-US" sz="3600" i="1">
                            <a:latin typeface="Cambria Math" charset="0"/>
                          </a:rPr>
                          <m:t>,</m:t>
                        </m:r>
                        <m:r>
                          <a:rPr lang="en-US" sz="3600" i="1">
                            <a:latin typeface="Cambria Math" charset="0"/>
                          </a:rPr>
                          <m:t>𝑧</m:t>
                        </m:r>
                      </m:e>
                    </m:d>
                    <m:r>
                      <a:rPr lang="en-US" sz="3600" i="1">
                        <a:latin typeface="Cambria Math" charset="0"/>
                      </a:rPr>
                      <m:t>=</m:t>
                    </m:r>
                    <m:r>
                      <a:rPr lang="en-US" sz="36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charset="0"/>
                          </a:rPr>
                          <m:t>𝑥</m:t>
                        </m:r>
                      </m:e>
                      <m:e>
                        <m:r>
                          <a:rPr lang="en-US" sz="3600" i="1">
                            <a:latin typeface="Cambria Math" charset="0"/>
                          </a:rPr>
                          <m:t>𝑦</m:t>
                        </m:r>
                        <m:r>
                          <a:rPr lang="en-US" sz="3600" i="1">
                            <a:latin typeface="Cambria Math" charset="0"/>
                          </a:rPr>
                          <m:t>,</m:t>
                        </m:r>
                        <m:r>
                          <a:rPr lang="en-US" sz="3600" i="1">
                            <a:latin typeface="Cambria Math" charset="0"/>
                          </a:rPr>
                          <m:t>𝑧</m:t>
                        </m:r>
                      </m:e>
                    </m:d>
                    <m:r>
                      <a:rPr lang="en-US" sz="36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charset="0"/>
                          </a:rPr>
                          <m:t>𝑦</m:t>
                        </m:r>
                        <m:r>
                          <a:rPr lang="en-US" sz="3600" i="1">
                            <a:latin typeface="Cambria Math" charset="0"/>
                          </a:rPr>
                          <m:t>,</m:t>
                        </m:r>
                        <m:r>
                          <a:rPr lang="en-US" sz="3600" i="1">
                            <a:latin typeface="Cambria Math" charset="0"/>
                          </a:rPr>
                          <m:t>𝑧</m:t>
                        </m:r>
                      </m:e>
                    </m:d>
                    <m:r>
                      <a:rPr lang="en-US" sz="3600" i="1">
                        <a:latin typeface="Cambria Math" charset="0"/>
                      </a:rPr>
                      <m:t>=</m:t>
                    </m:r>
                    <m:r>
                      <a:rPr lang="en-US" sz="36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charset="0"/>
                          </a:rPr>
                          <m:t>𝑥</m:t>
                        </m:r>
                      </m:e>
                      <m:e>
                        <m:r>
                          <a:rPr lang="en-US" sz="3600" i="1">
                            <a:latin typeface="Cambria Math" charset="0"/>
                          </a:rPr>
                          <m:t>𝑦</m:t>
                        </m:r>
                        <m:r>
                          <a:rPr lang="en-US" sz="3600" i="1">
                            <a:latin typeface="Cambria Math" charset="0"/>
                          </a:rPr>
                          <m:t>,</m:t>
                        </m:r>
                        <m:r>
                          <a:rPr lang="en-US" sz="3600" i="1">
                            <a:latin typeface="Cambria Math" charset="0"/>
                          </a:rPr>
                          <m:t>𝑧</m:t>
                        </m:r>
                      </m:e>
                    </m:d>
                    <m:r>
                      <a:rPr lang="en-US" sz="36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charset="0"/>
                          </a:rPr>
                          <m:t>𝑦</m:t>
                        </m:r>
                      </m:e>
                      <m:e>
                        <m:r>
                          <a:rPr lang="en-US" sz="3600" i="1">
                            <a:latin typeface="Cambria Math" charset="0"/>
                          </a:rPr>
                          <m:t>𝑧</m:t>
                        </m:r>
                      </m:e>
                    </m:d>
                    <m:r>
                      <a:rPr lang="en-US" sz="36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charset="0"/>
                          </a:rPr>
                          <m:t>𝑧</m:t>
                        </m:r>
                      </m:e>
                    </m:d>
                  </m:oMath>
                </a14:m>
                <a:endParaRPr lang="en-US" sz="3600" dirty="0">
                  <a:latin typeface="Helvetica" charset="0"/>
                </a:endParaRPr>
              </a:p>
              <a:p>
                <a:r>
                  <a:rPr lang="en-US" sz="3600" dirty="0">
                    <a:latin typeface="Helvetica Neue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600" dirty="0">
                    <a:latin typeface="Helvetica Neue"/>
                  </a:rPr>
                  <a:t>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sz="36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3600" i="1">
                        <a:latin typeface="Cambria Math" charset="0"/>
                      </a:rPr>
                      <m:t>,…, </m:t>
                    </m:r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sz="3600" i="1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en-US" sz="3600" b="0" i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endParaRPr lang="en-US" sz="3600" b="0" i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36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60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3600" i="1">
                            <a:latin typeface="Cambria Math" charset="0"/>
                          </a:rPr>
                          <m:t>, .. ., </m:t>
                        </m:r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600" i="1">
                                <a:latin typeface="Cambria Math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3600">
                        <a:latin typeface="Cambria Math" charset="0"/>
                      </a:rPr>
                      <m:t>=</m:t>
                    </m:r>
                    <m:r>
                      <a:rPr lang="en-US" sz="36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600" i="1">
                                    <a:latin typeface="Cambria Math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3600" i="1">
                                <a:latin typeface="Cambria Math" charset="0"/>
                              </a:rPr>
                              <m:t>|</m:t>
                            </m:r>
                            <m:r>
                              <a:rPr lang="en-US" sz="36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600" i="1">
                                <a:latin typeface="Cambria Math" charset="0"/>
                              </a:rPr>
                              <m:t>𝑛</m:t>
                            </m:r>
                            <m:r>
                              <a:rPr lang="en-US" sz="3600" i="1">
                                <a:latin typeface="Cambria Math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3600" i="1">
                            <a:latin typeface="Cambria Math" charset="0"/>
                          </a:rPr>
                          <m:t>, .. ., </m:t>
                        </m:r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60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36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600" i="1">
                                    <a:latin typeface="Cambria Math" charset="0"/>
                                  </a:rPr>
                                  <m:t>𝑛</m:t>
                                </m:r>
                                <m:r>
                                  <a:rPr lang="en-US" sz="3600" i="1">
                                    <a:latin typeface="Cambria Math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sz="3600" i="1">
                                <a:latin typeface="Cambria Math" charset="0"/>
                              </a:rPr>
                              <m:t>|</m:t>
                            </m:r>
                            <m:r>
                              <a:rPr lang="en-US" sz="36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600" i="1">
                                <a:latin typeface="Cambria Math" charset="0"/>
                              </a:rPr>
                              <m:t>𝑛</m:t>
                            </m:r>
                            <m:r>
                              <a:rPr lang="en-US" sz="3600" i="1">
                                <a:latin typeface="Cambria Math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sz="3600" i="1">
                            <a:latin typeface="Cambria Math" charset="0"/>
                          </a:rPr>
                          <m:t>, .. ., </m:t>
                        </m:r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60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3600" i="1">
                        <a:latin typeface="Cambria Math" charset="0"/>
                      </a:rPr>
                      <m:t>.. .</m:t>
                    </m:r>
                    <m:r>
                      <a:rPr lang="en-US" sz="36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600" i="1">
                                    <a:latin typeface="Cambria Math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3600" i="1">
                                <a:latin typeface="Cambria Math" charset="0"/>
                              </a:rPr>
                              <m:t>|</m:t>
                            </m:r>
                            <m:r>
                              <a:rPr lang="en-US" sz="36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60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36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60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3600" dirty="0">
                  <a:latin typeface="Helvetica" charset="0"/>
                </a:endParaRPr>
              </a:p>
              <a:p>
                <a:endParaRPr lang="en-US" sz="3600" dirty="0">
                  <a:latin typeface="Helvetica" charset="0"/>
                </a:endParaRPr>
              </a:p>
              <a:p>
                <a:r>
                  <a:rPr lang="en-US" sz="3600" u="sng" dirty="0">
                    <a:latin typeface="Helvetica Neue"/>
                  </a:rPr>
                  <a:t>Example</a:t>
                </a:r>
                <a:r>
                  <a:rPr lang="en-US" sz="3600" dirty="0">
                    <a:latin typeface="Helvetica Neue"/>
                  </a:rPr>
                  <a:t>: 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6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3600" i="1">
                        <a:latin typeface="Cambria Math" panose="02040503050406030204" pitchFamily="18" charset="0"/>
                      </a:rPr>
                      <m:t>, .. ., </m:t>
                    </m:r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600" dirty="0">
                    <a:latin typeface="Helvetica Neue"/>
                  </a:rPr>
                  <a:t> is normal with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𝜇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600" dirty="0">
                    <a:latin typeface="Helvetica Neue"/>
                  </a:rPr>
                  <a:t> and variance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6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𝜎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600" dirty="0">
                    <a:latin typeface="Helvetica Neue"/>
                  </a:rPr>
                  <a:t> and if 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36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dirty="0">
                    <a:latin typeface="Helvetica Neue"/>
                  </a:rPr>
                  <a:t> is ignored</a:t>
                </a:r>
              </a:p>
              <a:p>
                <a:endParaRPr lang="en-US" sz="3600" dirty="0">
                  <a:latin typeface="Helvetica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3600" i="1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600" i="1">
                                <a:latin typeface="Cambria Math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3600" i="1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600" i="1">
                                <a:latin typeface="Cambria Math" charset="0"/>
                              </a:rPr>
                              <m:t>𝑛</m:t>
                            </m:r>
                            <m:r>
                              <a:rPr lang="en-US" sz="3600" i="1">
                                <a:latin typeface="Cambria Math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3600" i="1">
                            <a:latin typeface="Cambria Math" charset="0"/>
                          </a:rPr>
                          <m:t>, .. . , </m:t>
                        </m:r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60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3600" i="1">
                        <a:latin typeface="Cambria Math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is-IS" sz="3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600" i="1">
                            <a:latin typeface="Cambria Math" charset="0"/>
                          </a:rPr>
                          <m:t>𝑖</m:t>
                        </m:r>
                        <m:r>
                          <a:rPr lang="en-US" sz="3600" i="1"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sz="3600" i="1">
                            <a:latin typeface="Cambria Math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bg-BG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600" i="1">
                                <a:latin typeface="Cambria Math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bg-BG" sz="36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3600" i="1">
                                    <a:latin typeface="Cambria Math" charset="0"/>
                                  </a:rPr>
                                  <m:t>2</m:t>
                                </m:r>
                                <m:r>
                                  <a:rPr lang="en-US" sz="3600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𝜋</m:t>
                                </m:r>
                                <m:sSub>
                                  <m:sSubPr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i="1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3600" i="1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  <m:r>
                          <m:rPr>
                            <m:nor/>
                          </m:rPr>
                          <a:rPr lang="en-US" sz="3600">
                            <a:latin typeface="Cambria Math" charset="0"/>
                          </a:rPr>
                          <m:t>exp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pt-BR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bg-BG" sz="3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600" i="1">
                                    <a:latin typeface="Cambria Math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is-IS" sz="3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3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600" i="1">
                                                <a:latin typeface="Cambria Math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3600" i="1">
                                                <a:latin typeface="Cambria Math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sz="3600" i="1">
                                            <a:latin typeface="Cambria Math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3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600" i="1">
                                                <a:latin typeface="Cambria Math" charset="0"/>
                                                <a:ea typeface="Cambria Math" charset="0"/>
                                                <a:cs typeface="Cambria Math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lang="en-US" sz="3600" i="1">
                                                <a:latin typeface="Cambria Math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3600" i="1">
                                        <a:latin typeface="Cambria Math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sz="3600" i="1">
                                    <a:latin typeface="Cambria Math" charset="0"/>
                                  </a:rPr>
                                  <m:t>2</m:t>
                                </m:r>
                                <m:sSubSup>
                                  <m:sSubSupPr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600" i="1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3600" i="1">
                                        <a:latin typeface="Cambria Math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3600" i="1">
                                        <a:latin typeface="Cambria Math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</m:e>
                        </m:d>
                      </m:e>
                    </m:nary>
                  </m:oMath>
                </a14:m>
                <a:endParaRPr lang="en-US" sz="3600" dirty="0">
                  <a:latin typeface="Helvetica" charset="0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2400160-DAA9-42BE-8B55-8DF06BDEF7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3" y="755370"/>
                <a:ext cx="10018712" cy="5579166"/>
              </a:xfrm>
              <a:prstGeom prst="rect">
                <a:avLst/>
              </a:prstGeom>
              <a:blipFill>
                <a:blip r:embed="rId2"/>
                <a:stretch>
                  <a:fillRect l="-1460" t="-120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E1767BB-3449-48BA-A82B-F2BC01027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6749" y="6102630"/>
            <a:ext cx="7084177" cy="365125"/>
          </a:xfrm>
        </p:spPr>
        <p:txBody>
          <a:bodyPr/>
          <a:lstStyle/>
          <a:p>
            <a:r>
              <a:rPr lang="en-US" dirty="0"/>
              <a:t>Aymen Ben Brik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C79BF939-A191-4C7C-B82B-F763689BF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0214" y="6105943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145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49DF719-90CB-464A-84A8-13E63C275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3" y="-612913"/>
            <a:ext cx="10018712" cy="1752600"/>
          </a:xfrm>
        </p:spPr>
        <p:txBody>
          <a:bodyPr/>
          <a:lstStyle/>
          <a:p>
            <a:pPr algn="l"/>
            <a:r>
              <a:rPr lang="en-US" sz="3600" dirty="0"/>
              <a:t>Statistical Inference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FB2B32B-7D41-46BD-948D-655166C37F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3" y="662608"/>
                <a:ext cx="10018712" cy="5181601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txBody>
              <a:bodyPr>
                <a:normAutofit fontScale="25000" lnSpcReduction="20000"/>
              </a:bodyPr>
              <a:lstStyle/>
              <a:p>
                <a:r>
                  <a:rPr lang="en-US" sz="7200" b="1" u="sng" dirty="0">
                    <a:latin typeface="Helvetica Neue"/>
                  </a:rPr>
                  <a:t>Hypothesis Testing </a:t>
                </a:r>
                <a:endParaRPr lang="en-US" sz="7200" dirty="0">
                  <a:latin typeface="Helvetica Neue"/>
                </a:endParaRPr>
              </a:p>
              <a:p>
                <a:r>
                  <a:rPr lang="en-US" sz="7200" dirty="0">
                    <a:latin typeface="Helvetica Neue"/>
                  </a:rPr>
                  <a:t>Parameter-based hypothesis testing: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7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72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7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72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7200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𝜃</m:t>
                    </m:r>
                    <m:r>
                      <a:rPr lang="en-US" sz="7200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=</m:t>
                    </m:r>
                    <m:sSub>
                      <m:sSubPr>
                        <m:ctrlPr>
                          <a:rPr lang="en-US" sz="72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72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𝜃</m:t>
                        </m:r>
                      </m:e>
                      <m:sub>
                        <m:r>
                          <a:rPr lang="en-US" sz="72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0</m:t>
                        </m:r>
                      </m:sub>
                    </m:sSub>
                    <m:r>
                      <a:rPr lang="en-US" sz="7200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  </m:t>
                    </m:r>
                    <m:r>
                      <m:rPr>
                        <m:nor/>
                      </m:rPr>
                      <a:rPr lang="en-US" sz="7200">
                        <a:latin typeface="Helvetica Neue"/>
                        <a:ea typeface="Cambria Math" charset="0"/>
                        <a:cs typeface="Cambria Math" charset="0"/>
                      </a:rPr>
                      <m:t>vs</m:t>
                    </m:r>
                    <m:r>
                      <a:rPr lang="en-US" sz="7200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  </m:t>
                    </m:r>
                    <m:sSub>
                      <m:sSubPr>
                        <m:ctrlPr>
                          <a:rPr lang="en-US" sz="72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72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𝐻</m:t>
                        </m:r>
                      </m:e>
                      <m:sub>
                        <m:r>
                          <a:rPr lang="en-US" sz="72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</m:sub>
                    </m:sSub>
                    <m:r>
                      <a:rPr lang="en-US" sz="7200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:</m:t>
                    </m:r>
                    <m:r>
                      <a:rPr lang="en-US" sz="7200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𝜃</m:t>
                    </m:r>
                    <m:r>
                      <a:rPr lang="en-US" sz="7200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≠</m:t>
                    </m:r>
                    <m:sSub>
                      <m:sSubPr>
                        <m:ctrlPr>
                          <a:rPr lang="en-US" sz="72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72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𝜃</m:t>
                        </m:r>
                      </m:e>
                      <m:sub>
                        <m:r>
                          <a:rPr lang="en-US" sz="72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7200" dirty="0">
                  <a:latin typeface="Helvetica Neue"/>
                </a:endParaRPr>
              </a:p>
              <a:p>
                <a:r>
                  <a:rPr lang="en-US" sz="7200" dirty="0">
                    <a:latin typeface="Helvetica Neue"/>
                  </a:rPr>
                  <a:t>Distribution-based hypothesis testing:</a:t>
                </a:r>
              </a:p>
              <a:p>
                <a:endParaRPr lang="en-US" sz="7200" dirty="0">
                  <a:latin typeface="Helvetica Neue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7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7200" i="1">
                            <a:latin typeface="Cambria Math" charset="0"/>
                          </a:rPr>
                          <m:t>𝐻</m:t>
                        </m:r>
                      </m:e>
                      <m:sub>
                        <m:r>
                          <a:rPr lang="en-US" sz="7200" i="1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sz="7200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7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7200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sz="72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7200" i="1">
                        <a:latin typeface="Cambria Math" charset="0"/>
                      </a:rPr>
                      <m:t>, .. . , </m:t>
                    </m:r>
                    <m:sSub>
                      <m:sSubPr>
                        <m:ctrlPr>
                          <a:rPr lang="en-US" sz="7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7200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sz="7200" i="1"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en-US" sz="7200" i="1">
                        <a:latin typeface="Cambria Math" charset="0"/>
                      </a:rPr>
                      <m:t> </m:t>
                    </m:r>
                    <m:r>
                      <a:rPr lang="en-US" sz="7200" i="1">
                        <a:latin typeface="Cambria Math" charset="0"/>
                        <a:ea typeface="Cambria Math" charset="0"/>
                        <a:cs typeface="Cambria Math" charset="0"/>
                      </a:rPr>
                      <m:t>~ </m:t>
                    </m:r>
                    <m:r>
                      <a:rPr lang="en-US" sz="7200" i="1">
                        <a:latin typeface="Cambria Math" charset="0"/>
                        <a:ea typeface="Cambria Math" charset="0"/>
                        <a:cs typeface="Cambria Math" charset="0"/>
                      </a:rPr>
                      <m:t>𝑁</m:t>
                    </m:r>
                    <m:d>
                      <m:dPr>
                        <m:ctrlPr>
                          <a:rPr lang="en-US" sz="72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sz="7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𝜇</m:t>
                        </m:r>
                        <m:r>
                          <a:rPr lang="en-US" sz="7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72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US" sz="72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72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7200" i="1">
                        <a:latin typeface="Cambria Math" charset="0"/>
                        <a:ea typeface="Cambria Math" charset="0"/>
                        <a:cs typeface="Cambria Math" charset="0"/>
                      </a:rPr>
                      <m:t>  </m:t>
                    </m:r>
                    <m:r>
                      <m:rPr>
                        <m:nor/>
                      </m:rPr>
                      <a:rPr lang="en-US" sz="7200">
                        <a:latin typeface="Cambria Math" charset="0"/>
                        <a:ea typeface="Cambria Math" charset="0"/>
                        <a:cs typeface="Cambria Math" charset="0"/>
                      </a:rPr>
                      <m:t>vs</m:t>
                    </m:r>
                    <m:r>
                      <a:rPr lang="en-US" sz="7200" i="1">
                        <a:latin typeface="Cambria Math" charset="0"/>
                        <a:ea typeface="Cambria Math" charset="0"/>
                        <a:cs typeface="Cambria Math" charset="0"/>
                      </a:rPr>
                      <m:t>  </m:t>
                    </m:r>
                    <m:sSub>
                      <m:sSubPr>
                        <m:ctrlPr>
                          <a:rPr lang="en-US" sz="72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7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𝐻</m:t>
                        </m:r>
                      </m:e>
                      <m:sub>
                        <m:r>
                          <a:rPr lang="en-US" sz="7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</m:sub>
                    </m:sSub>
                    <m:r>
                      <a:rPr lang="en-US" sz="7200" i="1">
                        <a:latin typeface="Cambria Math" charset="0"/>
                        <a:ea typeface="Cambria Math" charset="0"/>
                        <a:cs typeface="Cambria Math" charset="0"/>
                      </a:rPr>
                      <m:t>:</m:t>
                    </m:r>
                    <m:r>
                      <m:rPr>
                        <m:nor/>
                      </m:rPr>
                      <a:rPr lang="en-US" sz="7200">
                        <a:latin typeface="Cambria Math" charset="0"/>
                        <a:ea typeface="Cambria Math" charset="0"/>
                        <a:cs typeface="Cambria Math" charset="0"/>
                      </a:rPr>
                      <m:t>non</m:t>
                    </m:r>
                    <m:r>
                      <m:rPr>
                        <m:nor/>
                      </m:rPr>
                      <a:rPr lang="en-US" sz="7200">
                        <a:latin typeface="Cambria Math" charset="0"/>
                        <a:ea typeface="Cambria Math" charset="0"/>
                        <a:cs typeface="Cambria Math" charset="0"/>
                      </a:rPr>
                      <m:t>−</m:t>
                    </m:r>
                    <m:r>
                      <m:rPr>
                        <m:nor/>
                      </m:rPr>
                      <a:rPr lang="en-US" sz="7200">
                        <a:latin typeface="Cambria Math" charset="0"/>
                        <a:ea typeface="Cambria Math" charset="0"/>
                        <a:cs typeface="Cambria Math" charset="0"/>
                      </a:rPr>
                      <m:t>normal</m:t>
                    </m:r>
                    <m:r>
                      <m:rPr>
                        <m:nor/>
                      </m:rPr>
                      <a:rPr lang="en-US" sz="720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m:rPr>
                        <m:nor/>
                      </m:rPr>
                      <a:rPr lang="en-US" sz="7200">
                        <a:latin typeface="Cambria Math" charset="0"/>
                        <a:ea typeface="Cambria Math" charset="0"/>
                        <a:cs typeface="Cambria Math" charset="0"/>
                      </a:rPr>
                      <m:t>distribution</m:t>
                    </m:r>
                  </m:oMath>
                </a14:m>
                <a:endParaRPr lang="en-US" sz="7200" dirty="0">
                  <a:latin typeface="Helvetica" charset="0"/>
                </a:endParaRPr>
              </a:p>
              <a:p>
                <a:endParaRPr lang="en-US" sz="6000" i="1" dirty="0">
                  <a:latin typeface="Helvetica" charset="0"/>
                </a:endParaRPr>
              </a:p>
              <a:p>
                <a:r>
                  <a:rPr lang="en-US" sz="7200" i="1" dirty="0">
                    <a:latin typeface="Helvetica" charset="0"/>
                  </a:rPr>
                  <a:t>P-value </a:t>
                </a:r>
                <a:r>
                  <a:rPr lang="en-US" sz="7200" dirty="0">
                    <a:latin typeface="Helvetica" charset="0"/>
                  </a:rPr>
                  <a:t>= a measure of the plausibility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7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7200" i="1">
                            <a:latin typeface="Cambria Math" charset="0"/>
                          </a:rPr>
                          <m:t>𝐻</m:t>
                        </m:r>
                      </m:e>
                      <m:sub>
                        <m:r>
                          <a:rPr lang="en-US" sz="7200" i="1">
                            <a:latin typeface="Cambria Math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6000" dirty="0">
                  <a:latin typeface="Helvetica" charset="0"/>
                </a:endParaRPr>
              </a:p>
              <a:p>
                <a:r>
                  <a:rPr lang="en-US" sz="7200" i="1" dirty="0">
                    <a:latin typeface="Helvetica" charset="0"/>
                  </a:rPr>
                  <a:t>Significance Level </a:t>
                </a:r>
                <a:r>
                  <a:rPr lang="en-US" sz="7200" dirty="0">
                    <a:latin typeface="Helvetica" charset="0"/>
                  </a:rPr>
                  <a:t>= the probability of type１error (reject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7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7200" i="1">
                            <a:latin typeface="Cambria Math" charset="0"/>
                          </a:rPr>
                          <m:t>𝐻</m:t>
                        </m:r>
                      </m:e>
                      <m:sub>
                        <m:r>
                          <a:rPr lang="en-US" sz="7200" i="1">
                            <a:latin typeface="Cambria Math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7200" dirty="0">
                    <a:latin typeface="Helvetica" charset="0"/>
                  </a:rPr>
                  <a:t> when it is true)</a:t>
                </a:r>
              </a:p>
              <a:p>
                <a:endParaRPr lang="en-US" sz="5500" dirty="0">
                  <a:latin typeface="Helvetica" charset="0"/>
                </a:endParaRPr>
              </a:p>
              <a:p>
                <a:r>
                  <a:rPr lang="en-US" sz="7200" b="1" u="sng" dirty="0">
                    <a:latin typeface="Helvetica" charset="0"/>
                  </a:rPr>
                  <a:t>Confidence Interval</a:t>
                </a:r>
                <a:r>
                  <a:rPr lang="en-US" sz="7200" dirty="0">
                    <a:latin typeface="Helvetica" charset="0"/>
                  </a:rPr>
                  <a:t> A </a:t>
                </a:r>
                <a14:m>
                  <m:oMath xmlns:m="http://schemas.openxmlformats.org/officeDocument/2006/math">
                    <m:r>
                      <a:rPr lang="en-US" sz="7200" i="1">
                        <a:latin typeface="Cambria Math" charset="0"/>
                      </a:rPr>
                      <m:t>(1−</m:t>
                    </m:r>
                    <m:r>
                      <a:rPr lang="en-US" sz="7200" i="1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  <m:r>
                      <a:rPr lang="en-US" sz="7200" i="1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r>
                  <a:rPr lang="en-US" sz="7200" dirty="0">
                    <a:latin typeface="Helvetica" charset="0"/>
                  </a:rPr>
                  <a:t> confidence interval for </a:t>
                </a:r>
                <a14:m>
                  <m:oMath xmlns:m="http://schemas.openxmlformats.org/officeDocument/2006/math">
                    <m:r>
                      <a:rPr lang="en-US" sz="7200" i="1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</m:oMath>
                </a14:m>
                <a:r>
                  <a:rPr lang="en-US" sz="7200" dirty="0">
                    <a:latin typeface="Helvetica" charset="0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s-IS" sz="7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is-IS" sz="7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s-IS" sz="72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𝜃</m:t>
                            </m:r>
                          </m:e>
                        </m:acc>
                        <m:r>
                          <a:rPr lang="en-US" sz="7200" i="1">
                            <a:latin typeface="Cambria Math" charset="0"/>
                          </a:rPr>
                          <m:t>−</m:t>
                        </m:r>
                        <m:r>
                          <a:rPr lang="en-US" sz="7200" i="1">
                            <a:latin typeface="Cambria Math" charset="0"/>
                          </a:rPr>
                          <m:t>𝑘</m:t>
                        </m:r>
                        <m:r>
                          <a:rPr lang="en-US" sz="7200" i="1">
                            <a:latin typeface="Cambria Math" charset="0"/>
                          </a:rPr>
                          <m:t>, </m:t>
                        </m:r>
                        <m:acc>
                          <m:accPr>
                            <m:chr m:val="̂"/>
                            <m:ctrlPr>
                              <a:rPr lang="en-US" sz="7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72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𝜃</m:t>
                            </m:r>
                          </m:e>
                        </m:acc>
                        <m:r>
                          <a:rPr lang="en-US" sz="7200" i="1">
                            <a:latin typeface="Cambria Math" charset="0"/>
                          </a:rPr>
                          <m:t>+</m:t>
                        </m:r>
                        <m:r>
                          <a:rPr lang="en-US" sz="7200" i="1">
                            <a:latin typeface="Cambria Math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7200" dirty="0">
                    <a:latin typeface="Helvetica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7200" i="1">
                        <a:latin typeface="Cambria Math" charset="0"/>
                      </a:rPr>
                      <m:t>𝑘</m:t>
                    </m:r>
                  </m:oMath>
                </a14:m>
                <a:r>
                  <a:rPr lang="en-US" sz="7200" dirty="0">
                    <a:latin typeface="Helvetica" charset="0"/>
                  </a:rPr>
                  <a:t> </a:t>
                </a:r>
                <a:r>
                  <a:rPr lang="en-US" sz="7200" dirty="0" err="1">
                    <a:latin typeface="Helvetica" charset="0"/>
                  </a:rPr>
                  <a:t>s.t.</a:t>
                </a:r>
                <a:endParaRPr lang="en-US" sz="7200" dirty="0">
                  <a:latin typeface="Helvetica" charset="0"/>
                </a:endParaRPr>
              </a:p>
              <a:p>
                <a:endParaRPr lang="en-US" sz="7200" dirty="0">
                  <a:latin typeface="Helvetica" charset="0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7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7200">
                            <a:latin typeface="Cambria Math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is-IS" sz="7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72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𝜃</m:t>
                            </m:r>
                            <m:r>
                              <a:rPr lang="en-US" sz="72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∈</m:t>
                            </m:r>
                            <m:d>
                              <m:dPr>
                                <m:ctrlPr>
                                  <a:rPr lang="is-IS" sz="7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is-IS" sz="72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s-IS" sz="7200" i="1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𝜃</m:t>
                                    </m:r>
                                  </m:e>
                                </m:acc>
                                <m:r>
                                  <a:rPr lang="en-US" sz="7200" i="1">
                                    <a:latin typeface="Cambria Math" charset="0"/>
                                  </a:rPr>
                                  <m:t>−</m:t>
                                </m:r>
                                <m:r>
                                  <a:rPr lang="en-US" sz="7200" i="1">
                                    <a:latin typeface="Cambria Math" charset="0"/>
                                  </a:rPr>
                                  <m:t>𝑘</m:t>
                                </m:r>
                                <m:r>
                                  <a:rPr lang="en-US" sz="7200" i="1">
                                    <a:latin typeface="Cambria Math" charset="0"/>
                                  </a:rPr>
                                  <m:t>, 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72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7200" i="1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𝜃</m:t>
                                    </m:r>
                                  </m:e>
                                </m:acc>
                                <m:r>
                                  <a:rPr lang="en-US" sz="7200" i="1">
                                    <a:latin typeface="Cambria Math" charset="0"/>
                                  </a:rPr>
                                  <m:t>+</m:t>
                                </m:r>
                                <m:r>
                                  <a:rPr lang="en-US" sz="7200" i="1">
                                    <a:latin typeface="Cambria Math" charset="0"/>
                                  </a:rPr>
                                  <m:t>𝑘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7200" i="1">
                        <a:latin typeface="Cambria Math" charset="0"/>
                      </a:rPr>
                      <m:t>=1−</m:t>
                    </m:r>
                    <m:r>
                      <a:rPr lang="en-US" sz="7200" i="1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</m:oMath>
                </a14:m>
                <a:endParaRPr lang="en-US" sz="7200" dirty="0">
                  <a:latin typeface="Helvetica" charset="0"/>
                </a:endParaRPr>
              </a:p>
              <a:p>
                <a:endParaRPr lang="en-US" sz="7200" dirty="0">
                  <a:latin typeface="Helvetica" charset="0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FB2B32B-7D41-46BD-948D-655166C37F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3" y="662608"/>
                <a:ext cx="10018712" cy="5181601"/>
              </a:xfrm>
              <a:prstGeom prst="rect">
                <a:avLst/>
              </a:prstGeom>
              <a:blipFill>
                <a:blip r:embed="rId2"/>
                <a:stretch>
                  <a:fillRect l="-91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BBCD9E3C-9F35-4311-B6F8-28C028D18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72279" y="5883275"/>
            <a:ext cx="7084177" cy="365125"/>
          </a:xfrm>
        </p:spPr>
        <p:txBody>
          <a:bodyPr/>
          <a:lstStyle/>
          <a:p>
            <a:r>
              <a:rPr lang="en-US" dirty="0"/>
              <a:t>Aymen Ben Brik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564073E-3F5C-4DCB-A8BA-1F7F31A01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7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e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EB8F22"/>
      </a:accent1>
      <a:accent2>
        <a:srgbClr val="CD4223"/>
      </a:accent2>
      <a:accent3>
        <a:srgbClr val="A89374"/>
      </a:accent3>
      <a:accent4>
        <a:srgbClr val="83AA67"/>
      </a:accent4>
      <a:accent5>
        <a:srgbClr val="4FA9C1"/>
      </a:accent5>
      <a:accent6>
        <a:srgbClr val="9390AF"/>
      </a:accent6>
      <a:hlink>
        <a:srgbClr val="EC7220"/>
      </a:hlink>
      <a:folHlink>
        <a:srgbClr val="F09355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TM03457496[[fn=Parallaxe]]</Template>
  <TotalTime>23</TotalTime>
  <Words>558</Words>
  <Application>Microsoft Office PowerPoint</Application>
  <PresentationFormat>Grand écran</PresentationFormat>
  <Paragraphs>102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 Math</vt:lpstr>
      <vt:lpstr>Corbel</vt:lpstr>
      <vt:lpstr>Helvetica</vt:lpstr>
      <vt:lpstr>Helvetica Neue</vt:lpstr>
      <vt:lpstr>Parallaxe</vt:lpstr>
      <vt:lpstr>Time Series</vt:lpstr>
      <vt:lpstr>Basic Statistical Concepts </vt:lpstr>
      <vt:lpstr>Moments of a Distribution</vt:lpstr>
      <vt:lpstr>Statistical Estimation</vt:lpstr>
      <vt:lpstr>Examples of Classic Estimators</vt:lpstr>
      <vt:lpstr>Sampling Distributions of Estimators</vt:lpstr>
      <vt:lpstr>Method of Moments Estimation</vt:lpstr>
      <vt:lpstr>Maximum Likelihood Estimation</vt:lpstr>
      <vt:lpstr>Multivariate Distribution</vt:lpstr>
      <vt:lpstr>Statistical Inference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Aymen Ben Brik</dc:creator>
  <cp:lastModifiedBy>Aymen Ben Brik</cp:lastModifiedBy>
  <cp:revision>6</cp:revision>
  <dcterms:created xsi:type="dcterms:W3CDTF">2019-02-05T00:43:47Z</dcterms:created>
  <dcterms:modified xsi:type="dcterms:W3CDTF">2019-12-15T06:48:46Z</dcterms:modified>
</cp:coreProperties>
</file>