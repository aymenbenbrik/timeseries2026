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438B7-D97E-4770-A539-A1B6910BB87B}" type="datetimeFigureOut">
              <a:rPr lang="fr-FR" smtClean="0"/>
              <a:t>05/02/2019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77CA1-D37D-4424-91DA-23C8B0CE67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45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4F9F-6726-4622-B864-FE3D2A2C3B1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9800-3121-4D9C-8E18-A6856C0D7460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4C46-510F-4E47-AE32-35E4960DA8B3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8A8A-A856-4AEE-9D84-86CB5D2D8AC6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70D5A-9666-436B-9E05-5802511B5839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602BA-5C39-4235-A203-9CEC0DABEF85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8A6F-010B-47F8-9369-0924E9CB055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134A1-46FA-456A-92F0-771CF9C69911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0771-3AED-4CCB-8DBF-38F659E55C96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F492-73D3-40F2-84C8-34F04E4BF3EF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7507-B94E-45F6-94A5-9CB0A861248D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4D09-F652-4DB7-BFAA-7B0418185264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290-E124-4838-8ED9-134DE0A0296F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8292-541E-46D9-AE04-0E7620E063A3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C8AB3-DCFB-422D-BA68-710D8BDB4B49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C730-713E-4FD1-9469-56D5FBD727EC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2E7B-57EB-4493-A96B-CE0FCF307F3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0E8FB4-9601-4C6C-8979-15DED2737D9B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F693C-D157-40BC-B623-685B033DE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Time </a:t>
            </a:r>
            <a:r>
              <a:rPr lang="fr-FR" dirty="0" err="1"/>
              <a:t>Series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7EDA5A-5055-42B9-986D-439AF9D5E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Basic Definition and examples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F36536-DC6D-42E2-8090-5BA1B9F8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21999-B365-43EA-8AF6-769F43507BBD}" type="datetime1">
              <a:rPr lang="en-US" b="1" smtClean="0"/>
              <a:t>2/5/2019</a:t>
            </a:fld>
            <a:endParaRPr lang="en-US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CEE56E-B7A3-4253-A4F0-DF0537EF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Aymen Ben Brik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858CA-A2CD-4A52-9682-3422F6DC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9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F2C889-65C1-4A93-ACAD-65604C09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41E2-EC89-4C2A-94C2-C290ED3CF20B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AB0314-4922-43E8-B331-F202EB5F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4FFEAE-DF64-4EA0-A507-A356D87C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9E638EE-E335-419E-B4AF-35C74CA7AA13}"/>
              </a:ext>
            </a:extLst>
          </p:cNvPr>
          <p:cNvSpPr txBox="1">
            <a:spLocks/>
          </p:cNvSpPr>
          <p:nvPr/>
        </p:nvSpPr>
        <p:spPr>
          <a:xfrm>
            <a:off x="252349" y="274678"/>
            <a:ext cx="7520052" cy="99377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/>
              <a:t>Formal Definition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4748C12-3F64-4C49-ABB0-886B8904DB3E}"/>
                  </a:ext>
                </a:extLst>
              </p:cNvPr>
              <p:cNvSpPr/>
              <p:nvPr/>
            </p:nvSpPr>
            <p:spPr>
              <a:xfrm>
                <a:off x="1298712" y="1545243"/>
                <a:ext cx="911749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ffectLst/>
                    <a:latin typeface="Helvetica Neue"/>
                  </a:rPr>
                  <a:t>A </a:t>
                </a:r>
                <a:r>
                  <a:rPr lang="en-US" sz="2000" i="1" dirty="0">
                    <a:effectLst/>
                    <a:latin typeface="Helvetica Neue"/>
                  </a:rPr>
                  <a:t>stochastic process </a:t>
                </a:r>
                <a:r>
                  <a:rPr lang="en-US" sz="2000" dirty="0">
                    <a:effectLst/>
                    <a:latin typeface="Helvetica Neue"/>
                  </a:rPr>
                  <a:t>is a collection of random variables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∈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Helvetica Neue"/>
                  </a:rPr>
                  <a:t>, defined on a probability space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s-IS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Ω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𝐹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Helvetica Neue"/>
                  </a:rPr>
                  <a:t>.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4748C12-3F64-4C49-ABB0-886B8904D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712" y="1545243"/>
                <a:ext cx="9117497" cy="707886"/>
              </a:xfrm>
              <a:prstGeom prst="rect">
                <a:avLst/>
              </a:prstGeom>
              <a:blipFill>
                <a:blip r:embed="rId2"/>
                <a:stretch>
                  <a:fillRect l="-668" t="-3419" r="-1270" b="-145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D56E5FE-5B8B-4A51-ADFF-3F5B29F1503F}"/>
                  </a:ext>
                </a:extLst>
              </p:cNvPr>
              <p:cNvSpPr/>
              <p:nvPr/>
            </p:nvSpPr>
            <p:spPr>
              <a:xfrm>
                <a:off x="1298713" y="3061414"/>
                <a:ext cx="9117496" cy="707886"/>
              </a:xfrm>
              <a:prstGeom prst="rect">
                <a:avLst/>
              </a:prstGeom>
              <a:ln w="19050">
                <a:solidFill>
                  <a:srgbClr val="1F497D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ffectLst/>
                    <a:latin typeface="Helvetica Neue"/>
                  </a:rPr>
                  <a:t>A </a:t>
                </a:r>
                <a:r>
                  <a:rPr lang="en-US" sz="2000" i="1" dirty="0">
                    <a:effectLst/>
                    <a:latin typeface="Helvetica Neue"/>
                  </a:rPr>
                  <a:t>time series </a:t>
                </a:r>
                <a:r>
                  <a:rPr lang="en-US" sz="2000" dirty="0">
                    <a:effectLst/>
                    <a:latin typeface="Helvetica Neue"/>
                  </a:rPr>
                  <a:t>is a stochastic process in which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effectLst/>
                    <a:latin typeface="Helvetica Neue"/>
                  </a:rPr>
                  <a:t> is a set of time points, usually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effectLst/>
                          <a:latin typeface="Cambria Math" charset="0"/>
                        </a:rPr>
                        <m:t>𝑇</m:t>
                      </m:r>
                      <m:r>
                        <a:rPr lang="en-US" sz="2000" b="0" i="1" smtClean="0">
                          <a:effectLst/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charset="0"/>
                            </a:rPr>
                            <m:t>0, </m:t>
                          </m:r>
                          <m:r>
                            <a:rPr lang="en-US" sz="2000" b="0" i="1" smtClean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±1, ±2, .. .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charset="0"/>
                            </a:rPr>
                            <m:t>1, 2, 3, .. .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charset="0"/>
                        </a:rPr>
                        <m:t>, </m:t>
                      </m:r>
                      <m:d>
                        <m:dPr>
                          <m:begChr m:val="["/>
                          <m:endChr m:val=""/>
                          <m:ctrlPr>
                            <a:rPr lang="pt-BR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charset="0"/>
                            </a:rPr>
                            <m:t>0,</m:t>
                          </m:r>
                          <m:d>
                            <m:dPr>
                              <m:begChr m:val=""/>
                              <m:ctrlPr>
                                <a:rPr lang="de-DE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∞</m:t>
                              </m:r>
                            </m:e>
                          </m:d>
                          <m:r>
                            <a:rPr lang="en-US" sz="2000" b="0" i="1" smtClean="0">
                              <a:effectLst/>
                              <a:latin typeface="Cambria Math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effectLst/>
                              <a:latin typeface="Cambria Math" charset="0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effectLst/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is-IS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effectLst/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effectLst/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∞, ∞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effectLst/>
                  <a:latin typeface="Helvetica" charset="0"/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D56E5FE-5B8B-4A51-ADFF-3F5B29F15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713" y="3061414"/>
                <a:ext cx="9117496" cy="707886"/>
              </a:xfrm>
              <a:prstGeom prst="rect">
                <a:avLst/>
              </a:prstGeom>
              <a:blipFill>
                <a:blip r:embed="rId3"/>
                <a:stretch>
                  <a:fillRect l="-600" t="-25210" b="-105042"/>
                </a:stretch>
              </a:blipFill>
              <a:ln w="19050">
                <a:solidFill>
                  <a:srgbClr val="1F497D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CF162552-2176-4A6E-9693-26EA5C9B41F6}"/>
              </a:ext>
            </a:extLst>
          </p:cNvPr>
          <p:cNvSpPr/>
          <p:nvPr/>
        </p:nvSpPr>
        <p:spPr>
          <a:xfrm>
            <a:off x="1298713" y="4475346"/>
            <a:ext cx="91174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effectLst/>
                <a:latin typeface="Helvetica Neue"/>
              </a:rPr>
              <a:t>Note</a:t>
            </a:r>
            <a:r>
              <a:rPr lang="en-US" sz="2000" dirty="0">
                <a:effectLst/>
                <a:latin typeface="Helvetica Neue"/>
              </a:rPr>
              <a:t>: The term “time series” is also used to refer to the realization of such a process (observed time series).</a:t>
            </a:r>
          </a:p>
        </p:txBody>
      </p:sp>
    </p:spTree>
    <p:extLst>
      <p:ext uri="{BB962C8B-B14F-4D97-AF65-F5344CB8AC3E}">
        <p14:creationId xmlns:p14="http://schemas.microsoft.com/office/powerpoint/2010/main" val="117491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96D67608-2267-46AA-AA0A-B274D15F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221" y="5883275"/>
            <a:ext cx="1143000" cy="365125"/>
          </a:xfrm>
        </p:spPr>
        <p:txBody>
          <a:bodyPr/>
          <a:lstStyle/>
          <a:p>
            <a:fld id="{011FDB2B-B27D-44FA-A6A7-A7B632AD6F0D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48E63A2-1CC4-492C-8F8D-2E65F6ED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8848004-FFB6-4CE5-8CD1-3AADCB3F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619B9E-EF59-469C-A3CE-FF187C3F8B92}"/>
              </a:ext>
            </a:extLst>
          </p:cNvPr>
          <p:cNvSpPr txBox="1">
            <a:spLocks/>
          </p:cNvSpPr>
          <p:nvPr/>
        </p:nvSpPr>
        <p:spPr>
          <a:xfrm>
            <a:off x="1484313" y="91339"/>
            <a:ext cx="8715806" cy="616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 dirty="0"/>
              <a:t>Example: Time Series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6911DA-F7E3-401C-8F5D-55607F824306}"/>
              </a:ext>
            </a:extLst>
          </p:cNvPr>
          <p:cNvSpPr txBox="1">
            <a:spLocks/>
          </p:cNvSpPr>
          <p:nvPr/>
        </p:nvSpPr>
        <p:spPr>
          <a:xfrm>
            <a:off x="1484313" y="1258954"/>
            <a:ext cx="8521078" cy="4915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Monthly sales of Australian red wine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Monthly accidental deaths in the U.S.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Daily Average Temperature from La </a:t>
            </a:r>
            <a:r>
              <a:rPr lang="en-US" sz="2200" dirty="0" err="1">
                <a:latin typeface="Helvetica Neue"/>
              </a:rPr>
              <a:t>Harpe</a:t>
            </a:r>
            <a:r>
              <a:rPr lang="en-US" sz="2200" dirty="0">
                <a:latin typeface="Helvetica Neue"/>
              </a:rPr>
              <a:t> station in Hancock County, Illinois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Daily stock price of  IBM stock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US monthly interest rates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US yearly GDP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1-minute intraday S&amp;P500 return   </a:t>
            </a:r>
          </a:p>
          <a:p>
            <a:pPr lvl="1" indent="0">
              <a:lnSpc>
                <a:spcPct val="110000"/>
              </a:lnSpc>
              <a:buFont typeface="Arial"/>
              <a:buNone/>
            </a:pPr>
            <a:endParaRPr lang="en-US" sz="2200" dirty="0">
              <a:solidFill>
                <a:prstClr val="black"/>
              </a:solidFill>
              <a:latin typeface="Helvetica Neue"/>
            </a:endParaRPr>
          </a:p>
          <a:p>
            <a:pPr>
              <a:lnSpc>
                <a:spcPct val="110000"/>
              </a:lnSpc>
            </a:pPr>
            <a:endParaRPr lang="en-US" sz="2200" dirty="0">
              <a:latin typeface="Helvetica Neue"/>
            </a:endParaRPr>
          </a:p>
          <a:p>
            <a:pPr lvl="1" indent="0">
              <a:lnSpc>
                <a:spcPct val="110000"/>
              </a:lnSpc>
              <a:buFont typeface="Arial"/>
              <a:buNone/>
            </a:pPr>
            <a:endParaRPr lang="en-US" sz="2200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02583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5BA436-D74E-4668-9C29-3B9ACBFB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8A6F-010B-47F8-9369-0924E9CB055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ACAB29-89CB-449B-970A-4A530D8E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D27CD4-A1AC-427F-ADB2-B1246E76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D28773-F578-40CA-961B-C277294C1058}"/>
              </a:ext>
            </a:extLst>
          </p:cNvPr>
          <p:cNvSpPr txBox="1">
            <a:spLocks/>
          </p:cNvSpPr>
          <p:nvPr/>
        </p:nvSpPr>
        <p:spPr>
          <a:xfrm>
            <a:off x="1498050" y="22888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Time Series: Characteristics</a:t>
            </a:r>
            <a:endParaRPr lang="en-US" sz="3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EE4DFF-D720-441B-B5A4-8BC962CBA952}"/>
              </a:ext>
            </a:extLst>
          </p:cNvPr>
          <p:cNvSpPr txBox="1">
            <a:spLocks/>
          </p:cNvSpPr>
          <p:nvPr/>
        </p:nvSpPr>
        <p:spPr>
          <a:xfrm>
            <a:off x="1521331" y="947075"/>
            <a:ext cx="9676756" cy="4936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latin typeface="Helvetica Neue"/>
              </a:rPr>
              <a:t>Trend</a:t>
            </a:r>
            <a:r>
              <a:rPr lang="en-US" sz="2200">
                <a:latin typeface="Helvetica Neue"/>
              </a:rPr>
              <a:t>: long-term increase or decrease in the data over time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latin typeface="Helvetica Neue"/>
              </a:rPr>
              <a:t>Seasonality</a:t>
            </a:r>
            <a:r>
              <a:rPr lang="en-US" sz="2200">
                <a:latin typeface="Helvetica Neue"/>
              </a:rPr>
              <a:t>: influenced by seasonal factors (e.g. quarter of the year, month, or day of the week)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latin typeface="Helvetica Neue"/>
              </a:rPr>
              <a:t>Periodicity</a:t>
            </a:r>
            <a:r>
              <a:rPr lang="en-US" sz="2200">
                <a:latin typeface="Helvetica Neue"/>
              </a:rPr>
              <a:t>: exact repetition in regular pattern (seasonal series often called periodic, although they do not exactly repeat themselves)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latin typeface="Helvetica Neue"/>
              </a:rPr>
              <a:t>Cyclical trend</a:t>
            </a:r>
            <a:r>
              <a:rPr lang="en-US" sz="2200">
                <a:latin typeface="Helvetica Neue"/>
              </a:rPr>
              <a:t>: data exhibit rises and falls that are not of a fixed period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latin typeface="Helvetica Neue"/>
              </a:rPr>
              <a:t>Heteroskedasticity</a:t>
            </a:r>
            <a:r>
              <a:rPr lang="en-US" sz="2200">
                <a:latin typeface="Helvetica Neue"/>
              </a:rPr>
              <a:t>: varying variance with time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latin typeface="Helvetica Neue"/>
              </a:rPr>
              <a:t>Dependence</a:t>
            </a:r>
            <a:r>
              <a:rPr lang="en-US" sz="2200">
                <a:latin typeface="Helvetica Neue"/>
              </a:rPr>
              <a:t>: positive (successive observations are similar) or negative (successive observations are dissimilar)</a:t>
            </a:r>
          </a:p>
          <a:p>
            <a:pPr>
              <a:lnSpc>
                <a:spcPct val="110000"/>
              </a:lnSpc>
            </a:pPr>
            <a:endParaRPr lang="en-US" sz="2200">
              <a:latin typeface="Helvetica Neue"/>
            </a:endParaRPr>
          </a:p>
          <a:p>
            <a:pPr lvl="1" indent="0">
              <a:lnSpc>
                <a:spcPct val="110000"/>
              </a:lnSpc>
              <a:buFont typeface="Arial"/>
              <a:buNone/>
            </a:pPr>
            <a:endParaRPr lang="en-US" sz="2200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74448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5BA436-D74E-4668-9C29-3B9ACBFB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8A6F-010B-47F8-9369-0924E9CB055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ACAB29-89CB-449B-970A-4A530D8E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D27CD4-A1AC-427F-ADB2-B1246E76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A0B1D7-2AC4-444B-9A27-EF78E3103032}"/>
              </a:ext>
            </a:extLst>
          </p:cNvPr>
          <p:cNvSpPr txBox="1">
            <a:spLocks/>
          </p:cNvSpPr>
          <p:nvPr/>
        </p:nvSpPr>
        <p:spPr>
          <a:xfrm>
            <a:off x="1643825" y="22890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Example: GDP</a:t>
            </a:r>
            <a:endParaRPr lang="en-US" sz="36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10048C7-4E75-4D9A-B3F1-1693D90C4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479" y="1293963"/>
            <a:ext cx="9294382" cy="421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6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5BA436-D74E-4668-9C29-3B9ACBFB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8A6F-010B-47F8-9369-0924E9CB055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ACAB29-89CB-449B-970A-4A530D8E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D27CD4-A1AC-427F-ADB2-B1246E76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4E50A3-894C-402E-86BC-0A084B9ED8F7}"/>
              </a:ext>
            </a:extLst>
          </p:cNvPr>
          <p:cNvSpPr txBox="1">
            <a:spLocks/>
          </p:cNvSpPr>
          <p:nvPr/>
        </p:nvSpPr>
        <p:spPr>
          <a:xfrm>
            <a:off x="1696834" y="195167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Example: Daily IBM Stock Price</a:t>
            </a:r>
            <a:endParaRPr lang="en-US" sz="3600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68C5794-443F-4640-BF94-71236D659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35" y="811443"/>
            <a:ext cx="9991582" cy="517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0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5BA436-D74E-4668-9C29-3B9ACBFB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8A6F-010B-47F8-9369-0924E9CB055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ACAB29-89CB-449B-970A-4A530D8E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D27CD4-A1AC-427F-ADB2-B1246E76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978F1A-1113-460B-980B-C358BECA503E}"/>
              </a:ext>
            </a:extLst>
          </p:cNvPr>
          <p:cNvSpPr txBox="1">
            <a:spLocks/>
          </p:cNvSpPr>
          <p:nvPr/>
        </p:nvSpPr>
        <p:spPr>
          <a:xfrm>
            <a:off x="1588350" y="-6676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Example: S&amp;P500 Intraday</a:t>
            </a:r>
            <a:endParaRPr lang="en-US" sz="36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5B3ABED-64C4-4930-B1F6-DA8BABE66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50" y="996971"/>
            <a:ext cx="9729007" cy="468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1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9175536-1BEC-4694-94CA-DE14CBA8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8A6F-010B-47F8-9369-0924E9CB055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69C3734-5E06-4BEC-BEFB-CF0B8D8B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A41F88-8802-454D-B392-7D5963B2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3FDEE4-D461-4B09-BB25-AF0DE183C92E}"/>
              </a:ext>
            </a:extLst>
          </p:cNvPr>
          <p:cNvSpPr txBox="1">
            <a:spLocks/>
          </p:cNvSpPr>
          <p:nvPr/>
        </p:nvSpPr>
        <p:spPr>
          <a:xfrm>
            <a:off x="1588350" y="-6676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 dirty="0"/>
              <a:t>Is Time Series Analysis Necessary?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26C474A-2C3B-4C14-967B-19A8DDB980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29715" y="1000084"/>
                <a:ext cx="9067155" cy="464534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Time Series ⇒ Dependence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Data redundancy: number of degrees of freedom is smaller than T (T is the number of observations)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Data sampling: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=1,..,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>
                    <a:latin typeface="Helvetica Neue"/>
                  </a:rPr>
                  <a:t> concentrated about a small part of the probability space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Ignoring dependence leads to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Inefficient estimates of regression parameters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Poor predictions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Standard errors unrealistically small (too narrow CI ⇒ improper inferences)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26C474A-2C3B-4C14-967B-19A8DDB98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715" y="1000084"/>
                <a:ext cx="9067155" cy="4645342"/>
              </a:xfrm>
              <a:prstGeom prst="rect">
                <a:avLst/>
              </a:prstGeom>
              <a:blipFill>
                <a:blip r:embed="rId2"/>
                <a:stretch>
                  <a:fillRect l="-1478" t="-3150" r="-1344" b="-23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91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1CBDF8-4F61-4930-A292-551F9C86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8A6F-010B-47F8-9369-0924E9CB0552}" type="datetime1">
              <a:rPr lang="en-US" smtClean="0"/>
              <a:t>2/5/2019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CCC2FC0-A789-4AD0-8753-55B6C2A3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D7E83A-4E41-45E6-A6A0-7B97D45F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092712-6D5C-4CAA-9BC5-FF1DB1EA7EDD}"/>
              </a:ext>
            </a:extLst>
          </p:cNvPr>
          <p:cNvSpPr txBox="1">
            <a:spLocks/>
          </p:cNvSpPr>
          <p:nvPr/>
        </p:nvSpPr>
        <p:spPr>
          <a:xfrm>
            <a:off x="1590817" y="36142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Time Series: Objectives</a:t>
            </a:r>
            <a:endParaRPr lang="en-US" sz="3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79FF6C-2A28-4D5F-B491-39961813FDB5}"/>
              </a:ext>
            </a:extLst>
          </p:cNvPr>
          <p:cNvSpPr txBox="1">
            <a:spLocks/>
          </p:cNvSpPr>
          <p:nvPr/>
        </p:nvSpPr>
        <p:spPr>
          <a:xfrm>
            <a:off x="1590817" y="609600"/>
            <a:ext cx="9912206" cy="5301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>
                <a:latin typeface="Helvetica Neue"/>
              </a:rPr>
              <a:t>Description</a:t>
            </a:r>
          </a:p>
          <a:p>
            <a:pPr marL="342900" indent="-342900">
              <a:buFont typeface="Arial" charset="0"/>
              <a:buChar char="•"/>
            </a:pPr>
            <a:r>
              <a:rPr lang="en-US">
                <a:latin typeface="Helvetica Neue"/>
              </a:rPr>
              <a:t>Plot the data and obtain simple descriptive measures of the</a:t>
            </a:r>
          </a:p>
          <a:p>
            <a:r>
              <a:rPr lang="en-US">
                <a:latin typeface="Helvetica Neue"/>
              </a:rPr>
              <a:t>main properties of the series.</a:t>
            </a:r>
          </a:p>
          <a:p>
            <a:endParaRPr lang="en-US">
              <a:latin typeface="Helvetica Neue"/>
            </a:endParaRPr>
          </a:p>
          <a:p>
            <a:r>
              <a:rPr lang="en-US" b="1" u="sng">
                <a:latin typeface="Helvetica Neue"/>
              </a:rPr>
              <a:t>Explanation</a:t>
            </a:r>
          </a:p>
          <a:p>
            <a:pPr marL="342900" indent="-342900">
              <a:buFont typeface="Arial" charset="0"/>
              <a:buChar char="•"/>
            </a:pPr>
            <a:r>
              <a:rPr lang="en-US">
                <a:latin typeface="Helvetica Neue"/>
              </a:rPr>
              <a:t>Find a model to describe the time dependence in data.</a:t>
            </a:r>
          </a:p>
          <a:p>
            <a:endParaRPr lang="en-US">
              <a:latin typeface="Helvetica Neue"/>
            </a:endParaRPr>
          </a:p>
          <a:p>
            <a:r>
              <a:rPr lang="en-US" b="1" u="sng">
                <a:latin typeface="Helvetica Neue"/>
              </a:rPr>
              <a:t>Forecasting</a:t>
            </a:r>
          </a:p>
          <a:p>
            <a:r>
              <a:rPr lang="en-US">
                <a:latin typeface="Helvetica Neue"/>
              </a:rPr>
              <a:t>Given a finite sample from the series (observations), forecast</a:t>
            </a:r>
          </a:p>
          <a:p>
            <a:r>
              <a:rPr lang="en-US">
                <a:latin typeface="Helvetica Neue"/>
              </a:rPr>
              <a:t>the next value or the next several values.</a:t>
            </a:r>
          </a:p>
          <a:p>
            <a:endParaRPr lang="en-US">
              <a:latin typeface="Helvetica Neue"/>
            </a:endParaRPr>
          </a:p>
          <a:p>
            <a:r>
              <a:rPr lang="en-US" b="1" u="sng">
                <a:latin typeface="Helvetica Neue"/>
              </a:rPr>
              <a:t>Control/Tuning</a:t>
            </a:r>
          </a:p>
          <a:p>
            <a:pPr marL="342900" indent="-342900">
              <a:buFont typeface="Arial" charset="0"/>
              <a:buChar char="•"/>
            </a:pPr>
            <a:r>
              <a:rPr lang="en-US">
                <a:latin typeface="Helvetica Neue"/>
              </a:rPr>
              <a:t>After forecasting, adjust various control/tune parameters.</a:t>
            </a:r>
          </a:p>
          <a:p>
            <a:pPr>
              <a:lnSpc>
                <a:spcPct val="110000"/>
              </a:lnSpc>
            </a:pPr>
            <a:endParaRPr lang="en-US" sz="2200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03809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TM03457496[[fn=Parallaxe]]</Template>
  <TotalTime>48</TotalTime>
  <Words>424</Words>
  <Application>Microsoft Office PowerPoint</Application>
  <PresentationFormat>Grand écran</PresentationFormat>
  <Paragraphs>75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华文楷体</vt:lpstr>
      <vt:lpstr>Arial</vt:lpstr>
      <vt:lpstr>Calibri</vt:lpstr>
      <vt:lpstr>Cambria Math</vt:lpstr>
      <vt:lpstr>Corbel</vt:lpstr>
      <vt:lpstr>Helvetica</vt:lpstr>
      <vt:lpstr>Helvetica Neue</vt:lpstr>
      <vt:lpstr>Parallaxe</vt:lpstr>
      <vt:lpstr>Time Series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Aymen Ben Brik</dc:creator>
  <cp:lastModifiedBy>Aymen Ben Brik</cp:lastModifiedBy>
  <cp:revision>8</cp:revision>
  <dcterms:created xsi:type="dcterms:W3CDTF">2019-02-05T00:43:47Z</dcterms:created>
  <dcterms:modified xsi:type="dcterms:W3CDTF">2019-02-05T01:49:16Z</dcterms:modified>
</cp:coreProperties>
</file>