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74" r:id="rId4"/>
    <p:sldId id="279" r:id="rId5"/>
    <p:sldId id="285" r:id="rId6"/>
    <p:sldId id="286" r:id="rId7"/>
    <p:sldId id="28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438B7-D97E-4770-A539-A1B6910BB87B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77CA1-D37D-4424-91DA-23C8B0CE67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45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C846B-06C4-4BAA-A7C7-C9A47ED99046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DE557-400C-47E2-98B7-3C5367CF81D7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59D1-2EB7-4747-BBEE-0E040517376D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2045-BF34-4D28-A784-A54665465EB4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796-1F4D-4541-8868-D67B6237F899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22A-429E-4481-BE7C-7C17CE829BC9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1E41-3B41-45A8-97F1-A67DCA1A3A5A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0510-75E0-439D-BAB8-872FD8090895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8BF00-282E-4D07-98D0-0B337E09DEBF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80AB0-CDFA-4C33-A8A8-9FDC3789B85B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BE73-F64F-4EC9-960B-28DC7E5F1986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3A72E-A189-4CE8-9E3A-4D9FD2A72A38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E36-5D9F-4685-9A97-4BE23F828D0F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BB0E-281D-466F-BD4E-7205763923F4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FEA2-3CC5-49AB-BFF0-0E6214324B6C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BA41C-E883-4BCD-9F7A-7838A6E7EAA8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3F280C0-C126-4C5C-9279-7A640C70F5B4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F693C-D157-40BC-B623-685B033DE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Time </a:t>
            </a:r>
            <a:r>
              <a:rPr lang="fr-FR" dirty="0" err="1"/>
              <a:t>Series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7EDA5A-5055-42B9-986D-439AF9D5E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Decomposition : Seasonality estimation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F36536-DC6D-42E2-8090-5BA1B9F8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E747-E93B-457A-B47C-617BEF8FD98A}" type="datetime1">
              <a:rPr lang="en-US" b="1" smtClean="0"/>
              <a:t>2/26/2019</a:t>
            </a:fld>
            <a:endParaRPr lang="en-US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CEE56E-B7A3-4253-A4F0-DF0537EF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Aymen Ben Brik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6858CA-A2CD-4A52-9682-3422F6DC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9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FF96725-2D24-41FA-A8BF-96B87F70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E72-7540-4521-9930-C73715174959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8A761A-0C4B-4FCD-A250-4AE6E717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Aymen Ben Brik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809CF3-A555-4304-ABF7-5576B4AE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BA0860-4F02-46D6-9495-48082E3268A2}"/>
              </a:ext>
            </a:extLst>
          </p:cNvPr>
          <p:cNvSpPr txBox="1">
            <a:spLocks/>
          </p:cNvSpPr>
          <p:nvPr/>
        </p:nvSpPr>
        <p:spPr>
          <a:xfrm>
            <a:off x="1738097" y="102400"/>
            <a:ext cx="871580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Time Series: Basics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CE6E49D-5260-4B57-BA21-EAAB6A6273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8097" y="894066"/>
                <a:ext cx="9764926" cy="411102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latin typeface="Helvetica Neue"/>
                  </a:rPr>
                  <a:t>Data</a:t>
                </a:r>
                <a:r>
                  <a:rPr lang="en-US" sz="2200" dirty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200" dirty="0">
                    <a:latin typeface="Helvetica Neue"/>
                  </a:rPr>
                  <a:t>where </a:t>
                </a:r>
                <a:r>
                  <a:rPr lang="en-US" sz="2200" i="1" dirty="0">
                    <a:latin typeface="Helvetica Neue"/>
                  </a:rPr>
                  <a:t>t</a:t>
                </a:r>
                <a:r>
                  <a:rPr lang="en-US" sz="2200" dirty="0">
                    <a:latin typeface="Helvetica Neue"/>
                  </a:rPr>
                  <a:t> indexes time, e.g. minute, hour, day, month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latin typeface="Helvetica Neue"/>
                  </a:rPr>
                  <a:t>Model</a:t>
                </a:r>
                <a:r>
                  <a:rPr lang="en-US" sz="2200" dirty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200" dirty="0">
                  <a:latin typeface="Helvetica Neue"/>
                </a:endParaRP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is a trend component;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is a seasonality component with known periodicity </a:t>
                </a:r>
                <a:r>
                  <a:rPr lang="en-US" sz="2200" i="1" dirty="0">
                    <a:latin typeface="Helvetica Neue"/>
                  </a:rPr>
                  <a:t>d</a:t>
                </a:r>
                <a:r>
                  <a:rPr lang="en-US" sz="2200" dirty="0">
                    <a:latin typeface="Helvetica Neue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)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2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200" dirty="0">
                  <a:latin typeface="Helvetica Neue"/>
                </a:endParaRP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is a stationary component, i.e.  its probability distribution does not change when shifted in time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latin typeface="Helvetica Neue"/>
                  </a:rPr>
                  <a:t>Approach</a:t>
                </a:r>
                <a:r>
                  <a:rPr lang="en-US" sz="2200" dirty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are first estimated and subtracted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to have left the stationary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to be model using time series modeling approaches.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CE6E49D-5260-4B57-BA21-EAAB6A627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097" y="894066"/>
                <a:ext cx="9764926" cy="4111025"/>
              </a:xfrm>
              <a:prstGeom prst="rect">
                <a:avLst/>
              </a:prstGeom>
              <a:blipFill>
                <a:blip r:embed="rId2"/>
                <a:stretch>
                  <a:fillRect l="-1186" r="-13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801811D-E4BC-4996-8063-4368802853E1}"/>
              </a:ext>
            </a:extLst>
          </p:cNvPr>
          <p:cNvSpPr/>
          <p:nvPr/>
        </p:nvSpPr>
        <p:spPr>
          <a:xfrm>
            <a:off x="2093843" y="2372139"/>
            <a:ext cx="8781813" cy="9143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362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D7B589E-24A3-45EF-98E4-09DF269A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ECDA-C779-4D50-8AD8-AD0CB83C5226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9FC4B0-BF61-4BAB-BE40-6308C303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2F188E-ADD4-4AA8-91B2-04E8A5F8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54FDA7-C197-465E-8DD3-D7D1D5561309}"/>
              </a:ext>
            </a:extLst>
          </p:cNvPr>
          <p:cNvSpPr txBox="1">
            <a:spLocks/>
          </p:cNvSpPr>
          <p:nvPr/>
        </p:nvSpPr>
        <p:spPr>
          <a:xfrm>
            <a:off x="1588349" y="301462"/>
            <a:ext cx="9914673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 dirty="0"/>
              <a:t>Time Series: Seasonality Estimation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A7A9F4-5C6E-4AFB-B42A-E75AD37ECB96}"/>
              </a:ext>
            </a:extLst>
          </p:cNvPr>
          <p:cNvSpPr txBox="1">
            <a:spLocks/>
          </p:cNvSpPr>
          <p:nvPr/>
        </p:nvSpPr>
        <p:spPr>
          <a:xfrm>
            <a:off x="1588349" y="1092849"/>
            <a:ext cx="9914673" cy="5463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Helvetica Neue"/>
              </a:rPr>
              <a:t>Elimination of Seasonality when there is no Trend</a:t>
            </a:r>
            <a:endParaRPr lang="en-US" sz="2000" dirty="0">
              <a:latin typeface="Helvetica Neue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Helvetica Neue"/>
              </a:rPr>
              <a:t>Estimate seasonality and remove it, 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Helvetica Neue"/>
              </a:rPr>
              <a:t>Difference the data to remove the seasonality directly.</a:t>
            </a:r>
          </a:p>
          <a:p>
            <a:endParaRPr lang="en-US" sz="2000" dirty="0">
              <a:latin typeface="Helvetica Neue"/>
            </a:endParaRPr>
          </a:p>
          <a:p>
            <a:r>
              <a:rPr lang="en-US" sz="2000" b="1" dirty="0">
                <a:latin typeface="Helvetica Neue"/>
              </a:rPr>
              <a:t>Seasonality Estimation Methods</a:t>
            </a:r>
            <a:endParaRPr lang="en-US" sz="2000" dirty="0">
              <a:latin typeface="Helvetica Neue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Helvetica Neue"/>
              </a:rPr>
              <a:t>Seasonal Average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Helvetica Neue"/>
              </a:rPr>
              <a:t>Parametric Regression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</a:rPr>
              <a:t>Fit a mean for each seasonality group (e.g. month) using linear regression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</a:rPr>
              <a:t>Use a cosine-sin curve to fit the seasonal component</a:t>
            </a:r>
          </a:p>
        </p:txBody>
      </p:sp>
    </p:spTree>
    <p:extLst>
      <p:ext uri="{BB962C8B-B14F-4D97-AF65-F5344CB8AC3E}">
        <p14:creationId xmlns:p14="http://schemas.microsoft.com/office/powerpoint/2010/main" val="59184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E670FDC-BBD8-46CF-8280-D94DA4A32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41428BA-7987-419D-9AE1-0F4E4F81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448EE7-4C90-4724-8750-E322B8BF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8AFF42-4638-4102-A87D-FFA12AFA5E8D}"/>
              </a:ext>
            </a:extLst>
          </p:cNvPr>
          <p:cNvSpPr txBox="1">
            <a:spLocks/>
          </p:cNvSpPr>
          <p:nvPr/>
        </p:nvSpPr>
        <p:spPr>
          <a:xfrm>
            <a:off x="1738097" y="102401"/>
            <a:ext cx="976492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Seasonality: Averaging 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D46FBAB-9FF3-4129-A4A7-DA902669B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8097" y="1170091"/>
                <a:ext cx="9764926" cy="471318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charset="0"/>
                      </a:rPr>
                      <m:t>k</m:t>
                    </m:r>
                    <m:r>
                      <a:rPr lang="en-US" i="1" dirty="0">
                        <a:latin typeface="Cambria Math" charset="0"/>
                      </a:rPr>
                      <m:t>=1, 2, .. . ,</m:t>
                    </m:r>
                    <m:r>
                      <a:rPr lang="en-US" i="1" dirty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dirty="0">
                    <a:latin typeface="Helvetica" charset="0"/>
                  </a:rPr>
                  <a:t>, compute the average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of</a:t>
                </a:r>
              </a:p>
              <a:p>
                <a:endParaRPr lang="en-US" dirty="0">
                  <a:latin typeface="Helvetica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𝑗𝑑</m:t>
                              </m:r>
                            </m:sub>
                          </m:sSub>
                          <m:r>
                            <a:rPr lang="en-US" i="1">
                              <a:latin typeface="Cambria Math" charset="0"/>
                            </a:rPr>
                            <m:t>,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𝑤𝑖𝑡h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𝑗𝑑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𝑖𝑛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𝑡h𝑒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𝑡𝑖𝑚𝑒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𝑑𝑜𝑚𝑎𝑖𝑛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Then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den>
                    </m:f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𝑗</m:t>
                        </m:r>
                        <m:r>
                          <a:rPr lang="en-US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D46FBAB-9FF3-4129-A4A7-DA902669B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097" y="1170091"/>
                <a:ext cx="9764926" cy="4713184"/>
              </a:xfrm>
              <a:prstGeom prst="rect">
                <a:avLst/>
              </a:prstGeom>
              <a:blipFill>
                <a:blip r:embed="rId2"/>
                <a:stretch>
                  <a:fillRect l="-15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8449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46AD494-62F2-4BBB-B10F-921AC95E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787B230-79D9-4709-8A8A-28C335F9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CF955F-33A8-4FEE-AED4-63C08B4B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37616A-E577-4F2A-88C4-20288843664F}"/>
              </a:ext>
            </a:extLst>
          </p:cNvPr>
          <p:cNvSpPr txBox="1">
            <a:spLocks/>
          </p:cNvSpPr>
          <p:nvPr/>
        </p:nvSpPr>
        <p:spPr>
          <a:xfrm>
            <a:off x="940649" y="0"/>
            <a:ext cx="10403211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/>
              <a:t>Seasonality: Seasonal Means Model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A4092E4-419A-47ED-81D2-9B3FCC1672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6344" y="1166432"/>
                <a:ext cx="10570856" cy="48994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latin typeface="Helvetica Neue"/>
                  </a:rPr>
                  <a:t>Model</a:t>
                </a:r>
                <a:r>
                  <a:rPr lang="en-US" dirty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 Neue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latin typeface="Helvetica Neue"/>
                  </a:rPr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b="1" dirty="0">
                    <a:latin typeface="Helvetica" charset="0"/>
                  </a:rPr>
                  <a:t>Approach</a:t>
                </a:r>
                <a:r>
                  <a:rPr lang="en-US" dirty="0">
                    <a:latin typeface="Helvetica" charset="0"/>
                  </a:rPr>
                  <a:t>: </a:t>
                </a:r>
                <a:r>
                  <a:rPr lang="en-US" dirty="0">
                    <a:latin typeface="Helvetica Neue"/>
                  </a:rPr>
                  <a:t>Fit a mean for each seasonality group (e.g. month) using linear regression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ANOVA model: Group 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𝑘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en-US" i="1">
                        <a:latin typeface="Cambria Math" charset="0"/>
                      </a:rPr>
                      <m:t>𝑗𝑑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Dummy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= 1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𝑘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r>
                      <a:rPr lang="en-US" i="1">
                        <a:latin typeface="Cambria Math" charset="0"/>
                      </a:rPr>
                      <m:t>𝑗𝑑</m:t>
                    </m:r>
                  </m:oMath>
                </a14:m>
                <a:r>
                  <a:rPr lang="en-US" dirty="0">
                    <a:latin typeface="Helvetica" charset="0"/>
                  </a:rPr>
                  <a:t> and 0 otherwise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 Fit a linear regression model with </a:t>
                </a:r>
                <a:r>
                  <a:rPr lang="en-US" i="1" dirty="0">
                    <a:latin typeface="Helvetica" charset="0"/>
                  </a:rPr>
                  <a:t>d-1</a:t>
                </a:r>
                <a:r>
                  <a:rPr lang="en-US" dirty="0">
                    <a:latin typeface="Helvetica" charset="0"/>
                  </a:rPr>
                  <a:t> dummy variables if a model with intercept or with </a:t>
                </a:r>
                <a:r>
                  <a:rPr lang="en-US" i="1" dirty="0">
                    <a:latin typeface="Helvetica" charset="0"/>
                  </a:rPr>
                  <a:t>d</a:t>
                </a:r>
                <a:r>
                  <a:rPr lang="en-US" dirty="0">
                    <a:latin typeface="Helvetica" charset="0"/>
                  </a:rPr>
                  <a:t> dummy variables if a model without intercept</a:t>
                </a:r>
              </a:p>
              <a:p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A4092E4-419A-47ED-81D2-9B3FCC167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344" y="1166432"/>
                <a:ext cx="10570856" cy="4899405"/>
              </a:xfrm>
              <a:prstGeom prst="rect">
                <a:avLst/>
              </a:prstGeom>
              <a:blipFill>
                <a:blip r:embed="rId2"/>
                <a:stretch>
                  <a:fillRect l="-1499" t="-2861" r="-1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636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F6BD93E-B7DA-48F2-A177-46532744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2CC3D9B-108F-4D4D-A6A2-78A083009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5901AB-D5B3-4F9F-9444-C7D64358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6A0714-6ED9-4D8A-8097-E2145720293C}"/>
              </a:ext>
            </a:extLst>
          </p:cNvPr>
          <p:cNvSpPr txBox="1">
            <a:spLocks/>
          </p:cNvSpPr>
          <p:nvPr/>
        </p:nvSpPr>
        <p:spPr>
          <a:xfrm>
            <a:off x="252347" y="274679"/>
            <a:ext cx="11250675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/>
              <a:t>Seasonality: Cosine-Sine Model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4AD51C4-E62C-4361-8355-EF69271DE8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3312" y="1217185"/>
                <a:ext cx="10301122" cy="536613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latin typeface="Helvetica Neue"/>
                  </a:rPr>
                  <a:t>Model</a:t>
                </a:r>
                <a:r>
                  <a:rPr lang="en-US" dirty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 Neue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latin typeface="Helvetica Neue"/>
                  </a:rPr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b="1" dirty="0">
                    <a:latin typeface="Helvetica" charset="0"/>
                  </a:rPr>
                  <a:t>Approach</a:t>
                </a:r>
                <a:r>
                  <a:rPr lang="en-US" dirty="0">
                    <a:latin typeface="Helvetica" charset="0"/>
                  </a:rPr>
                  <a:t>: Assume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cos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⁡(2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𝑓𝑡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Helvetic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>
                    <a:latin typeface="Helvetica" charset="0"/>
                  </a:rPr>
                  <a:t> is the amplitude,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Helvetica" charset="0"/>
                  </a:rPr>
                  <a:t> is the frequency (1/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Helvetica" charset="0"/>
                  </a:rPr>
                  <a:t> is the period)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Helvetica" charset="0"/>
                  </a:rPr>
                  <a:t> is the phase (sets the set the arbitrary origin on the time axis).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func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𝑓𝑡</m:t>
                            </m:r>
                          </m:e>
                        </m:d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Helvetica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lang="en-US" dirty="0">
                    <a:latin typeface="Helvetica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Helvetica" charset="0"/>
                  </a:rPr>
                  <a:t>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lang="en-US" dirty="0">
                    <a:latin typeface="Helvetica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Helvetica" charset="0"/>
                  </a:rPr>
                  <a:t>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Fit a linear regression: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𝑓𝑡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Helvetica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regression coefficients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If seasonality has multiple frequencies (e.g. month, week), we can use different 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Helvetica" charset="0"/>
                  </a:rPr>
                  <a:t> (two predicting variables 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Helvetica" charset="0"/>
                  </a:rPr>
                  <a:t>)</a:t>
                </a:r>
              </a:p>
              <a:p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4AD51C4-E62C-4361-8355-EF69271DE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312" y="1217185"/>
                <a:ext cx="10301122" cy="5366136"/>
              </a:xfrm>
              <a:prstGeom prst="rect">
                <a:avLst/>
              </a:prstGeom>
              <a:blipFill>
                <a:blip r:embed="rId2"/>
                <a:stretch>
                  <a:fillRect l="-1538" t="-85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96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7F2842-43F1-491E-8810-1A2147C05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2/26/2019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0BABE3-EE89-44BE-83F1-976E4681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0A5D83-EBA7-42F4-8930-CAE0C87F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98DE5D-755D-4351-A970-C5E4FBECF3BC}"/>
              </a:ext>
            </a:extLst>
          </p:cNvPr>
          <p:cNvSpPr txBox="1">
            <a:spLocks/>
          </p:cNvSpPr>
          <p:nvPr/>
        </p:nvSpPr>
        <p:spPr>
          <a:xfrm>
            <a:off x="1412503" y="301462"/>
            <a:ext cx="10090519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200"/>
              <a:t>Time Series: Trend &amp; Seasonality (cont’d) 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BB5EB47-FAF0-4A7E-9179-9F74F2FEB3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6344" y="738705"/>
                <a:ext cx="11033021" cy="514457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200" u="sng" dirty="0"/>
                  <a:t>Define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  <m:r>
                          <a:rPr lang="en-US" sz="2200" i="1">
                            <a:latin typeface="Cambria Math" charset="0"/>
                          </a:rPr>
                          <m:t>−</m:t>
                        </m:r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is-I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200" i="1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200" dirty="0">
                  <a:latin typeface="Helvetica" charset="0"/>
                </a:endParaRPr>
              </a:p>
              <a:p>
                <a:endParaRPr lang="en-US" sz="2200" dirty="0">
                  <a:latin typeface="Helvetica" charset="0"/>
                </a:endParaRPr>
              </a:p>
              <a:p>
                <a:r>
                  <a:rPr lang="en-US" sz="2200" dirty="0">
                    <a:latin typeface="Helvetica" charset="0"/>
                  </a:rPr>
                  <a:t>Then apply the differencing operator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 smtClean="0">
                        <a:latin typeface="Cambria Math" charset="0"/>
                      </a:rPr>
                      <m:t> </m:t>
                    </m:r>
                    <m:r>
                      <a:rPr lang="en-US" sz="22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  <m:r>
                          <a:rPr lang="en-US" sz="2200" i="1">
                            <a:latin typeface="Cambria Math" charset="0"/>
                          </a:rPr>
                          <m:t>−</m:t>
                        </m:r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  <m:r>
                          <a:rPr lang="en-US" sz="2200" i="1">
                            <a:latin typeface="Cambria Math" charset="0"/>
                          </a:rPr>
                          <m:t>−</m:t>
                        </m:r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  <m:r>
                          <a:rPr lang="en-US" sz="2200" i="1">
                            <a:latin typeface="Cambria Math" charset="0"/>
                          </a:rPr>
                          <m:t>−</m:t>
                        </m:r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sz="2200" i="1" dirty="0">
                  <a:latin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charset="0"/>
                        </a:rPr>
                        <m:t> 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charset="0"/>
                            </a:rPr>
                            <m:t>𝑚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</a:rPr>
                            <m:t>𝑡</m:t>
                          </m:r>
                        </m:sub>
                      </m:sSub>
                      <m:r>
                        <a:rPr lang="en-US" sz="2200" i="1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charset="0"/>
                            </a:rPr>
                            <m:t>𝑚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sz="2200" i="1">
                              <a:latin typeface="Cambria Math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r>
                        <a:rPr lang="en-US" sz="2200" i="1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</a:rPr>
                            <m:t>𝑡</m:t>
                          </m:r>
                        </m:sub>
                      </m:sSub>
                      <m:r>
                        <a:rPr lang="en-US" sz="2200" i="1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sz="2200" i="1">
                              <a:latin typeface="Cambria Math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2200" dirty="0">
                  <a:latin typeface="Helvetica" charset="0"/>
                </a:endParaRPr>
              </a:p>
              <a:p>
                <a:pPr marL="0" indent="0">
                  <a:buNone/>
                </a:pPr>
                <a:r>
                  <a:rPr lang="en-US" sz="2200" dirty="0" err="1">
                    <a:latin typeface="Helvetica" charset="0"/>
                  </a:rPr>
                  <a:t>deseasonalized</a:t>
                </a:r>
                <a:r>
                  <a:rPr lang="en-US" sz="2200" dirty="0">
                    <a:latin typeface="Helvetica" charset="0"/>
                  </a:rPr>
                  <a:t> data</a:t>
                </a:r>
                <a:r>
                  <a:rPr lang="en-US" dirty="0">
                    <a:latin typeface="Helvetica" charset="0"/>
                  </a:rPr>
                  <a:t>.</a:t>
                </a:r>
              </a:p>
              <a:p>
                <a:endParaRPr lang="en-US" dirty="0">
                  <a:latin typeface="Helvetica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BB5EB47-FAF0-4A7E-9179-9F74F2FEB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344" y="738705"/>
                <a:ext cx="11033021" cy="5144570"/>
              </a:xfrm>
              <a:prstGeom prst="rect">
                <a:avLst/>
              </a:prstGeom>
              <a:blipFill>
                <a:blip r:embed="rId2"/>
                <a:stretch>
                  <a:fillRect l="-12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6679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TM03457496[[fn=Parallaxe]]</Template>
  <TotalTime>90</TotalTime>
  <Words>525</Words>
  <Application>Microsoft Office PowerPoint</Application>
  <PresentationFormat>Grand écran</PresentationFormat>
  <Paragraphs>67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 Math</vt:lpstr>
      <vt:lpstr>Corbel</vt:lpstr>
      <vt:lpstr>Helvetica</vt:lpstr>
      <vt:lpstr>Helvetica Neue</vt:lpstr>
      <vt:lpstr>Parallaxe</vt:lpstr>
      <vt:lpstr>Time Series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Aymen Ben Brik</dc:creator>
  <cp:lastModifiedBy>Aymen Ben Brik</cp:lastModifiedBy>
  <cp:revision>14</cp:revision>
  <dcterms:created xsi:type="dcterms:W3CDTF">2019-02-05T00:43:47Z</dcterms:created>
  <dcterms:modified xsi:type="dcterms:W3CDTF">2019-02-26T03:03:12Z</dcterms:modified>
</cp:coreProperties>
</file>