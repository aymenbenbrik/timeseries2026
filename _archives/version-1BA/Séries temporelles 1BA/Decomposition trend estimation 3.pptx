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D1F3B4-40E5-4AA7-5C55-E1DC39D0BF98}" v="1" dt="2024-01-18T13:57:25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men benbrik" userId="S::aymen.benbrik@esprit.tn::b87287f7-120e-4797-95b3-8912aaf8a80b" providerId="AD" clId="Web-{17D1F3B4-40E5-4AA7-5C55-E1DC39D0BF98}"/>
    <pc:docChg chg="modSld">
      <pc:chgData name="aymen benbrik" userId="S::aymen.benbrik@esprit.tn::b87287f7-120e-4797-95b3-8912aaf8a80b" providerId="AD" clId="Web-{17D1F3B4-40E5-4AA7-5C55-E1DC39D0BF98}" dt="2024-01-18T13:57:25.951" v="0" actId="1076"/>
      <pc:docMkLst>
        <pc:docMk/>
      </pc:docMkLst>
      <pc:sldChg chg="modSp">
        <pc:chgData name="aymen benbrik" userId="S::aymen.benbrik@esprit.tn::b87287f7-120e-4797-95b3-8912aaf8a80b" providerId="AD" clId="Web-{17D1F3B4-40E5-4AA7-5C55-E1DC39D0BF98}" dt="2024-01-18T13:57:25.951" v="0" actId="1076"/>
        <pc:sldMkLst>
          <pc:docMk/>
          <pc:sldMk cId="705830180" sldId="277"/>
        </pc:sldMkLst>
        <pc:spChg chg="mod">
          <ac:chgData name="aymen benbrik" userId="S::aymen.benbrik@esprit.tn::b87287f7-120e-4797-95b3-8912aaf8a80b" providerId="AD" clId="Web-{17D1F3B4-40E5-4AA7-5C55-E1DC39D0BF98}" dt="2024-01-18T13:57:25.951" v="0" actId="1076"/>
          <ac:spMkLst>
            <pc:docMk/>
            <pc:sldMk cId="705830180" sldId="277"/>
            <ac:spMk id="6" creationId="{BED4DD9A-E5FC-4282-8D07-22796D1398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438B7-D97E-4770-A539-A1B6910BB87B}" type="datetimeFigureOut">
              <a:rPr lang="fr-FR" smtClean="0"/>
              <a:t>18/01/2024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77CA1-D37D-4424-91DA-23C8B0CE67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9457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D6B75-9B5D-4643-A501-35CF6708C857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3898B-622E-4427-AD13-CFE35F01D553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6BD73-A614-4E88-A805-91BD05C1308E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78A-5C0B-4B11-9500-B087AFE13D0B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CE734-27DB-4A67-BCA6-BB0BCD0291D8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A11-96EC-46C1-BC7B-AD7FE1C09CC4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E3929-E45E-4E87-9A84-733B8515CB44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DF353-8C14-4999-8E14-EAC187B41164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322B-A252-4849-8923-1FC16C687050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040FD-10C4-4C87-A837-7F874436A786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333A-E111-48E7-8FC3-B8AA2D8C085C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2C47D-A5D2-4306-9E43-24102814EAD7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CBE8F-7228-4AFE-995D-D52EE46C94E8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F0D5F-A257-4886-85EE-F06BA70512C6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B27A-CBD3-40CC-B303-C114982321CB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467CB-F240-4A8A-B10B-29B3FC260D1F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26DC8-A0F0-404A-9E31-E833F002F633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3BCFBB-9D17-41E6-9803-E919DBC85E00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F693C-D157-40BC-B623-685B033DE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Time </a:t>
            </a:r>
            <a:r>
              <a:rPr lang="fr-FR" dirty="0" err="1"/>
              <a:t>Series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7EDA5A-5055-42B9-986D-439AF9D5EF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/>
              <a:t>Decomposition : Trend estimation</a:t>
            </a:r>
          </a:p>
          <a:p>
            <a:endParaRPr lang="fr-FR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F36536-DC6D-42E2-8090-5BA1B9F87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D4916-D8F7-4491-AACC-FA3CE7F71F82}" type="datetime1">
              <a:rPr lang="en-US" b="1" smtClean="0"/>
              <a:t>1/18/2024</a:t>
            </a:fld>
            <a:endParaRPr lang="en-US" b="1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CEE56E-B7A3-4253-A4F0-DF0537EF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dirty="0"/>
              <a:t>Aymen Ben Brik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858CA-A2CD-4A52-9682-3422F6DC5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92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FF96725-2D24-41FA-A8BF-96B87F70B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D9B61-8D96-48BE-B7F6-3BC5362D9353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38A761A-0C4B-4FCD-A250-4AE6E717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809CF3-A555-4304-ABF7-5576B4AE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BA0860-4F02-46D6-9495-48082E3268A2}"/>
              </a:ext>
            </a:extLst>
          </p:cNvPr>
          <p:cNvSpPr txBox="1">
            <a:spLocks/>
          </p:cNvSpPr>
          <p:nvPr/>
        </p:nvSpPr>
        <p:spPr>
          <a:xfrm>
            <a:off x="1738097" y="102400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Time Series: Basics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6E444B8-F4F3-4ECA-A24B-3ED3EEE5F4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8097" y="718676"/>
                <a:ext cx="9764926" cy="489029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Data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200" dirty="0">
                    <a:latin typeface="Helvetica Neue"/>
                  </a:rPr>
                  <a:t>where </a:t>
                </a:r>
                <a:r>
                  <a:rPr lang="en-US" sz="2200" i="1" dirty="0">
                    <a:latin typeface="Helvetica Neue"/>
                  </a:rPr>
                  <a:t>t</a:t>
                </a:r>
                <a:r>
                  <a:rPr lang="en-US" sz="2200" dirty="0">
                    <a:latin typeface="Helvetica Neue"/>
                  </a:rPr>
                  <a:t> indexes time, e.g. minute, hour, day, month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Model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200" dirty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trend component;</a:t>
                </a: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seasonality component with known periodicity </a:t>
                </a:r>
                <a:r>
                  <a:rPr lang="en-US" sz="2200" i="1" dirty="0">
                    <a:latin typeface="Helvetica Neue"/>
                  </a:rPr>
                  <a:t>d</a:t>
                </a:r>
                <a:r>
                  <a:rPr lang="en-US" sz="2200" dirty="0">
                    <a:latin typeface="Helvetica Neue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)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sz="2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20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sz="220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200" dirty="0">
                  <a:latin typeface="Helvetica Neue"/>
                </a:endParaRPr>
              </a:p>
              <a:p>
                <a:pPr marL="342900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is a stationary component, i.e.  its probability distribution does not change when shifted in time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2200" b="1" dirty="0">
                    <a:latin typeface="Helvetica Neue"/>
                  </a:rPr>
                  <a:t>Approach</a:t>
                </a:r>
                <a:r>
                  <a:rPr lang="en-US" sz="2200" dirty="0">
                    <a:latin typeface="Helvetica Neue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are first estimated and subtracted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to have left the stationary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 Neue"/>
                  </a:rPr>
                  <a:t> to be model using time series modeling approaches.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6E444B8-F4F3-4ECA-A24B-3ED3EEE5F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97" y="718676"/>
                <a:ext cx="9764926" cy="4890294"/>
              </a:xfrm>
              <a:prstGeom prst="rect">
                <a:avLst/>
              </a:prstGeom>
              <a:blipFill>
                <a:blip r:embed="rId2"/>
                <a:stretch>
                  <a:fillRect l="-1373" r="-14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36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D7B589E-24A3-45EF-98E4-09DF269A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92319-D646-48B8-9176-46E45105284C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29FC4B0-BF61-4BAB-BE40-6308C303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2F188E-ADD4-4AA8-91B2-04E8A5F8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254FDA7-C197-465E-8DD3-D7D1D5561309}"/>
              </a:ext>
            </a:extLst>
          </p:cNvPr>
          <p:cNvSpPr txBox="1">
            <a:spLocks/>
          </p:cNvSpPr>
          <p:nvPr/>
        </p:nvSpPr>
        <p:spPr>
          <a:xfrm>
            <a:off x="1588349" y="301462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 dirty="0"/>
              <a:t>Time Series: Trend Estimation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9179679-AFAD-4D6D-9043-D25683C202E5}"/>
              </a:ext>
            </a:extLst>
          </p:cNvPr>
          <p:cNvSpPr txBox="1">
            <a:spLocks/>
          </p:cNvSpPr>
          <p:nvPr/>
        </p:nvSpPr>
        <p:spPr>
          <a:xfrm>
            <a:off x="1588349" y="917738"/>
            <a:ext cx="9914673" cy="4528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Helvetica" charset="0"/>
              </a:rPr>
              <a:t>Elimination of Trend (no Seasonality)</a:t>
            </a:r>
            <a:endParaRPr lang="en-US" dirty="0">
              <a:latin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Helvetica" charset="0"/>
              </a:rPr>
              <a:t>Estimate trend and remove it, or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Helvetica" charset="0"/>
              </a:rPr>
              <a:t>Difference the data to remove the trend directly.</a:t>
            </a:r>
          </a:p>
          <a:p>
            <a:endParaRPr lang="en-US" dirty="0">
              <a:latin typeface="Helvetica" charset="0"/>
            </a:endParaRPr>
          </a:p>
          <a:p>
            <a:r>
              <a:rPr lang="en-US" b="1" dirty="0">
                <a:latin typeface="Helvetica" charset="0"/>
              </a:rPr>
              <a:t>Estimation Methods</a:t>
            </a:r>
            <a:endParaRPr lang="en-US" dirty="0">
              <a:latin typeface="Helvetic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Helvetica" charset="0"/>
              </a:rPr>
              <a:t>Moving Average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Helvetica" charset="0"/>
              </a:rPr>
              <a:t>Parametric Regression (Linear, Quadratic, etc.)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Helvetica" charset="0"/>
              </a:rPr>
              <a:t>Non-Parametric Regression</a:t>
            </a:r>
          </a:p>
        </p:txBody>
      </p:sp>
    </p:spTree>
    <p:extLst>
      <p:ext uri="{BB962C8B-B14F-4D97-AF65-F5344CB8AC3E}">
        <p14:creationId xmlns:p14="http://schemas.microsoft.com/office/powerpoint/2010/main" val="591849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6798FF1-09B4-4B50-9ED0-EF26375F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80835-762E-4B24-B9F7-89CAB612DAD5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60D0BBC-0314-42FB-ABFE-A35EDE87C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E0FE0F-4F9D-4DAA-B371-3C6673B7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113951-FE68-4988-ABD2-CAB976D67C2A}"/>
              </a:ext>
            </a:extLst>
          </p:cNvPr>
          <p:cNvSpPr txBox="1">
            <a:spLocks/>
          </p:cNvSpPr>
          <p:nvPr/>
        </p:nvSpPr>
        <p:spPr>
          <a:xfrm>
            <a:off x="1588349" y="0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Trend: Moving Average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8CE4FBF-1C4A-420E-85ED-61CEF38D7D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561721"/>
                <a:ext cx="9914673" cy="512346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200" dirty="0">
                    <a:latin typeface="Helvetica" charset="0"/>
                  </a:rPr>
                  <a:t>Estimate the trend for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charset="0"/>
                      </a:rPr>
                      <m:t>𝑡</m:t>
                    </m:r>
                  </m:oMath>
                </a14:m>
                <a:r>
                  <a:rPr lang="en-US" sz="2200" dirty="0">
                    <a:latin typeface="Helvetica" charset="0"/>
                  </a:rPr>
                  <a:t> with a width of the moving window </a:t>
                </a:r>
                <a:r>
                  <a:rPr lang="en-US" sz="2200" i="1" dirty="0">
                    <a:latin typeface="Helvetica" charset="0"/>
                  </a:rPr>
                  <a:t>d</a:t>
                </a:r>
                <a:r>
                  <a:rPr lang="en-US" sz="2200" dirty="0">
                    <a:latin typeface="Helvetica" charset="0"/>
                  </a:rPr>
                  <a:t>:</a:t>
                </a:r>
              </a:p>
              <a:p>
                <a:r>
                  <a:rPr lang="en-US" sz="2200" dirty="0">
                    <a:latin typeface="Helvetica" charset="0"/>
                  </a:rPr>
                  <a:t>If the width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charset="0"/>
                      </a:rPr>
                      <m:t>𝑑</m:t>
                    </m:r>
                    <m:r>
                      <a:rPr lang="en-US" sz="2200" i="1">
                        <a:latin typeface="Cambria Math" charset="0"/>
                      </a:rPr>
                      <m:t>=2</m:t>
                    </m:r>
                    <m:r>
                      <a:rPr lang="en-US" sz="2200" i="1">
                        <a:latin typeface="Cambria Math" charset="0"/>
                      </a:rPr>
                      <m:t>𝑞</m:t>
                    </m:r>
                  </m:oMath>
                </a14:m>
                <a:r>
                  <a:rPr lang="en-US" sz="2200" dirty="0">
                    <a:latin typeface="Helvetica" charset="0"/>
                  </a:rPr>
                  <a:t>, use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pt-BR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bg-BG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sz="2200" i="1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sz="2200" i="1">
                                    <a:latin typeface="Cambria Math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200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𝑞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200" i="1">
                            <a:latin typeface="Cambria Math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𝑞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+2</m:t>
                            </m:r>
                          </m:sub>
                        </m:sSub>
                        <m:r>
                          <a:rPr lang="en-US" sz="2200" i="1">
                            <a:latin typeface="Cambria Math" charset="0"/>
                          </a:rPr>
                          <m:t>+ .. . +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𝑞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200" i="1">
                            <a:latin typeface="Cambria Math" charset="0"/>
                          </a:rPr>
                          <m:t>+</m:t>
                        </m:r>
                        <m:f>
                          <m:fPr>
                            <m:ctrlPr>
                              <a:rPr lang="bg-BG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i="1">
                                    <a:latin typeface="Cambria Math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charset="0"/>
                                  </a:rPr>
                                  <m:t>𝑡</m:t>
                                </m:r>
                                <m:r>
                                  <a:rPr lang="en-US" sz="2200" i="1">
                                    <a:latin typeface="Cambria Math" charset="0"/>
                                  </a:rPr>
                                  <m:t>+</m:t>
                                </m:r>
                                <m:r>
                                  <a:rPr lang="en-US" sz="2200" i="1">
                                    <a:latin typeface="Cambria Math" charset="0"/>
                                  </a:rPr>
                                  <m:t>𝑞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200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sz="2200" i="1">
                        <a:latin typeface="Cambria Math" charset="0"/>
                      </a:rPr>
                      <m:t>.</m:t>
                    </m:r>
                  </m:oMath>
                </a14:m>
                <a:endParaRPr lang="en-US" sz="2200" dirty="0">
                  <a:latin typeface="Helvetica" charset="0"/>
                </a:endParaRPr>
              </a:p>
              <a:p>
                <a:r>
                  <a:rPr lang="en-US" sz="2200" dirty="0">
                    <a:latin typeface="Helvetica" charset="0"/>
                  </a:rPr>
                  <a:t>If the width is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charset="0"/>
                      </a:rPr>
                      <m:t>𝑑</m:t>
                    </m:r>
                    <m:r>
                      <a:rPr lang="en-US" sz="2200" i="1">
                        <a:latin typeface="Cambria Math" charset="0"/>
                      </a:rPr>
                      <m:t>=2</m:t>
                    </m:r>
                    <m:r>
                      <a:rPr lang="en-US" sz="2200" i="1">
                        <a:latin typeface="Cambria Math" charset="0"/>
                      </a:rPr>
                      <m:t>𝑞</m:t>
                    </m:r>
                    <m:r>
                      <a:rPr lang="en-US" sz="2200" i="1">
                        <a:latin typeface="Cambria Math" charset="0"/>
                      </a:rPr>
                      <m:t>+1</m:t>
                    </m:r>
                  </m:oMath>
                </a14:m>
                <a:r>
                  <a:rPr lang="en-US" sz="2200" dirty="0">
                    <a:latin typeface="Helvetica" charset="0"/>
                  </a:rPr>
                  <a:t>, use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latin typeface="Cambria Math" charset="0"/>
                      </a:rPr>
                      <m:t>=</m:t>
                    </m:r>
                    <m:f>
                      <m:fPr>
                        <m:ctrlPr>
                          <a:rPr lang="bg-BG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charset="0"/>
                          </a:rPr>
                          <m:t>𝑑</m:t>
                        </m:r>
                      </m:den>
                    </m:f>
                    <m:nary>
                      <m:naryPr>
                        <m:chr m:val="∑"/>
                        <m:ctrlPr>
                          <a:rPr lang="is-IS" sz="22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i="1">
                            <a:latin typeface="Cambria Math" charset="0"/>
                          </a:rPr>
                          <m:t>𝑗</m:t>
                        </m:r>
                        <m:r>
                          <a:rPr lang="en-US" sz="2200" i="1">
                            <a:latin typeface="Cambria Math" charset="0"/>
                          </a:rPr>
                          <m:t>=−</m:t>
                        </m:r>
                        <m:r>
                          <a:rPr lang="en-US" sz="2200" i="1">
                            <a:latin typeface="Cambria Math" charset="0"/>
                          </a:rPr>
                          <m:t>𝑞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</a:rPr>
                              <m:t>𝑡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+</m:t>
                            </m:r>
                            <m:r>
                              <a:rPr lang="en-US" sz="2200" i="1">
                                <a:latin typeface="Cambria Math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2200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48CE4FBF-1C4A-420E-85ED-61CEF38D7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561721"/>
                <a:ext cx="9914673" cy="5123462"/>
              </a:xfrm>
              <a:prstGeom prst="rect">
                <a:avLst/>
              </a:prstGeom>
              <a:blipFill>
                <a:blip r:embed="rId2"/>
                <a:stretch>
                  <a:fillRect l="-14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6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1B4D2E-05C5-4437-8079-22FF3F00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ACC6-BD30-41BC-9C45-E6B1438B2506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ED9923D-3973-4239-93C4-ECA11AB5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Aymen Ben Brik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FDC1E3-51E4-4A7D-9D5E-5B85E5FC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3BD8423-41DE-4656-913F-4FFA4A0870B0}"/>
              </a:ext>
            </a:extLst>
          </p:cNvPr>
          <p:cNvSpPr txBox="1">
            <a:spLocks/>
          </p:cNvSpPr>
          <p:nvPr/>
        </p:nvSpPr>
        <p:spPr>
          <a:xfrm>
            <a:off x="1588349" y="-6676"/>
            <a:ext cx="9914673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Trend: Parametric Regression 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2213FA-2149-4BEB-89C1-F7E580FF5A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88349" y="609600"/>
                <a:ext cx="9914673" cy="538038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Estimate the trend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charset="0"/>
                  </a:rPr>
                  <a:t>assuming a polynomial in </a:t>
                </a:r>
                <a:r>
                  <a:rPr lang="en-US" i="1" dirty="0">
                    <a:latin typeface="Helvetica" charset="0"/>
                  </a:rPr>
                  <a:t>t</a:t>
                </a:r>
                <a:r>
                  <a:rPr lang="en-US" dirty="0">
                    <a:latin typeface="Helvetica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dirty="0">
                  <a:latin typeface="Helvetica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Commonly use small order polynomial (p=1 or 2)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Estimation approach: Fit a linear regression model where the predicting variables are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Helvetica" charset="0"/>
                  </a:rPr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Helvetica" charset="0"/>
                  </a:rPr>
                  <a:t>,…,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dirty="0">
                    <a:latin typeface="Helvetica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Which terms to keep? Use model selection to select among the predicting variables. </a:t>
                </a: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682213FA-2149-4BEB-89C1-F7E580FF5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349" y="609600"/>
                <a:ext cx="9914673" cy="5380383"/>
              </a:xfrm>
              <a:prstGeom prst="rect">
                <a:avLst/>
              </a:prstGeom>
              <a:blipFill>
                <a:blip r:embed="rId2"/>
                <a:stretch>
                  <a:fillRect l="-15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217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4C96064-CCCC-49D3-9270-DBAA69D4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FABDE-1660-47EF-817D-D16B7CCAD989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FDB363-17B4-4A22-8BCA-61F9C376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8AB96A8-A822-4882-85BD-2F8AA895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47D5BD5-D616-4391-9007-6566497A3D59}"/>
              </a:ext>
            </a:extLst>
          </p:cNvPr>
          <p:cNvSpPr txBox="1">
            <a:spLocks/>
          </p:cNvSpPr>
          <p:nvPr/>
        </p:nvSpPr>
        <p:spPr>
          <a:xfrm>
            <a:off x="1738097" y="0"/>
            <a:ext cx="976492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Trend: Non- Parametric Regression 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ED4DD9A-E5FC-4282-8D07-22796D1398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6957" y="1938692"/>
                <a:ext cx="9764926" cy="413600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2857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20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2001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8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5430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6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00250" indent="-1714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>
                      <a:lumMod val="75000"/>
                    </a:schemeClr>
                  </a:buClr>
                  <a:buSzPct val="145000"/>
                  <a:buFont typeface="Arial"/>
                  <a:buChar char="•"/>
                  <a:defRPr sz="1400" kern="1200" cap="none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latin typeface="Helvetica" charset="0"/>
                  </a:rPr>
                  <a:t>Estimate the trend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Helvetica" charset="0"/>
                  </a:rPr>
                  <a:t>with </a:t>
                </a:r>
                <a:r>
                  <a:rPr lang="en-US" i="1" dirty="0">
                    <a:latin typeface="Helvetica" charset="0"/>
                  </a:rPr>
                  <a:t>t</a:t>
                </a:r>
                <a:r>
                  <a:rPr lang="en-US" dirty="0">
                    <a:latin typeface="Helvetica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Helvetica" charset="0"/>
                  </a:rPr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1" dirty="0">
                    <a:latin typeface="Helvetica" charset="0"/>
                  </a:rPr>
                  <a:t>Kernel Regression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dirty="0">
                    <a:latin typeface="Helvetica" charset="0"/>
                  </a:rPr>
                  <a:t> 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Helvetica" charset="0"/>
                  </a:rPr>
                  <a:t> a weight function depending on a kernel function.</a:t>
                </a:r>
              </a:p>
              <a:p>
                <a:r>
                  <a:rPr lang="en-US" dirty="0">
                    <a:latin typeface="Helvetica" charset="0"/>
                  </a:rPr>
                  <a:t>2. </a:t>
                </a:r>
                <a:r>
                  <a:rPr lang="en-US" b="1" dirty="0">
                    <a:latin typeface="Helvetica" charset="0"/>
                  </a:rPr>
                  <a:t>Local Polynomial Regression</a:t>
                </a:r>
              </a:p>
              <a:p>
                <a:pPr marL="108585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An extension of the kernel regression and the polynomial regression: fit a local polynomial within a width of a data point     </a:t>
                </a:r>
              </a:p>
              <a:p>
                <a:r>
                  <a:rPr lang="en-US" dirty="0">
                    <a:latin typeface="Helvetica" charset="0"/>
                  </a:rPr>
                  <a:t>3. </a:t>
                </a:r>
                <a:r>
                  <a:rPr lang="en-US" b="1" dirty="0">
                    <a:latin typeface="Helvetica" charset="0"/>
                  </a:rPr>
                  <a:t>Other Approaches</a:t>
                </a:r>
              </a:p>
              <a:p>
                <a:pPr marL="108585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Splines regression</a:t>
                </a:r>
              </a:p>
              <a:p>
                <a:pPr marL="108585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Wavelets</a:t>
                </a:r>
              </a:p>
              <a:p>
                <a:pPr marL="1085850" lvl="1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Helvetica" charset="0"/>
                  </a:rPr>
                  <a:t>Orthogonal basis function decomposition</a:t>
                </a:r>
              </a:p>
              <a:p>
                <a:endParaRPr lang="en-US" dirty="0">
                  <a:latin typeface="Helvetic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  <a:p>
                <a:endParaRPr lang="en-US" dirty="0">
                  <a:latin typeface="Helvetica" charset="0"/>
                </a:endParaRP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ED4DD9A-E5FC-4282-8D07-22796D139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957" y="1938692"/>
                <a:ext cx="9764926" cy="4136005"/>
              </a:xfrm>
              <a:prstGeom prst="rect">
                <a:avLst/>
              </a:prstGeom>
              <a:blipFill>
                <a:blip r:embed="rId2"/>
                <a:stretch>
                  <a:fillRect l="-1437" t="-28719" r="-1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830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67BD9C-33FC-4759-9772-A685AC2D0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C6623-7609-43D8-855D-DE41A0CF5569}" type="datetime1">
              <a:rPr lang="en-US" smtClean="0"/>
              <a:t>1/18/2024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27B242-E724-4389-B11E-20D4AE0E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Aymen Ben Brik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08BBA4-D5CC-49A1-BCC7-0D71E707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23841CB-C449-419D-B844-A9EBE2D81163}"/>
              </a:ext>
            </a:extLst>
          </p:cNvPr>
          <p:cNvSpPr txBox="1">
            <a:spLocks/>
          </p:cNvSpPr>
          <p:nvPr/>
        </p:nvSpPr>
        <p:spPr>
          <a:xfrm>
            <a:off x="1588350" y="0"/>
            <a:ext cx="8715806" cy="616276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3600"/>
              <a:t>Trend: Non- Parametric Regression </a:t>
            </a:r>
            <a:endParaRPr lang="en-US" sz="36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92860D3-BDC8-491A-8A35-01B4CA1C60DA}"/>
              </a:ext>
            </a:extLst>
          </p:cNvPr>
          <p:cNvSpPr txBox="1"/>
          <p:nvPr/>
        </p:nvSpPr>
        <p:spPr>
          <a:xfrm>
            <a:off x="1588350" y="1136438"/>
            <a:ext cx="10033807" cy="280076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Helvetica Neue"/>
              </a:rPr>
              <a:t>Which one to choose?</a:t>
            </a:r>
          </a:p>
          <a:p>
            <a:pPr marL="342900" indent="-342900">
              <a:buFontTx/>
              <a:buChar char="→"/>
            </a:pPr>
            <a:r>
              <a:rPr lang="en-US" sz="2200" dirty="0">
                <a:latin typeface="Helvetica Neue"/>
              </a:rPr>
              <a:t>Local polynomial regression is preferred over kernel regression since it overcomes boundary problems and its performance is not dependent on the design of the time points</a:t>
            </a:r>
          </a:p>
          <a:p>
            <a:pPr marL="342900" indent="-342900">
              <a:buFontTx/>
              <a:buChar char="→"/>
            </a:pPr>
            <a:r>
              <a:rPr lang="en-US" sz="2200" dirty="0">
                <a:latin typeface="Helvetica Neue"/>
              </a:rPr>
              <a:t>Other methods are to be selected depending on the level of smoothness of the function to be estimated</a:t>
            </a:r>
          </a:p>
          <a:p>
            <a:pPr marL="342900" indent="-342900">
              <a:buFontTx/>
              <a:buChar char="→"/>
            </a:pPr>
            <a:r>
              <a:rPr lang="en-US" sz="2200" dirty="0">
                <a:latin typeface="Helvetica Neue"/>
              </a:rPr>
              <a:t>For estimating the trend in time series, local polynomial or splines regression will perform well in most cases</a:t>
            </a:r>
          </a:p>
        </p:txBody>
      </p:sp>
    </p:spTree>
    <p:extLst>
      <p:ext uri="{BB962C8B-B14F-4D97-AF65-F5344CB8AC3E}">
        <p14:creationId xmlns:p14="http://schemas.microsoft.com/office/powerpoint/2010/main" val="26754488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TM03457496[[fn=Parallaxe]]</Template>
  <TotalTime>65</TotalTime>
  <Words>463</Words>
  <Application>Microsoft Office PowerPoint</Application>
  <PresentationFormat>Grand écran</PresentationFormat>
  <Paragraphs>69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Parallaxe</vt:lpstr>
      <vt:lpstr>Time Series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Aymen Ben Brik</dc:creator>
  <cp:lastModifiedBy>Aymen Ben Brik</cp:lastModifiedBy>
  <cp:revision>12</cp:revision>
  <dcterms:created xsi:type="dcterms:W3CDTF">2019-02-05T00:43:47Z</dcterms:created>
  <dcterms:modified xsi:type="dcterms:W3CDTF">2024-01-18T13:57:27Z</dcterms:modified>
</cp:coreProperties>
</file>